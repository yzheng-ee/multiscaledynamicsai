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Layouts/update_slideLayout4.xml" ContentType="application/vnd.openxmlformats-officedocument.presentationml.slideLayout+xml"/>
  <Override PartName="/ppt/slideLayouts/update_slideLayout3.xml" ContentType="application/vnd.openxmlformats-officedocument.presentationml.slideLayout+xml"/>
  <Override PartName="/ppt/slideMasters/theme/update_theme2.xml" ContentType="application/vnd.openxmlformats-officedocument.theme+xml"/>
  <Override PartName="/ppt/slideLayouts/update_slideLayout5.xml" ContentType="application/vnd.openxmlformats-officedocument.presentationml.slideLayout+xml"/>
  <Override PartName="/ppt/slideMasters/update_slideMaster1.xml" ContentType="application/vnd.openxmlformats-officedocument.presentationml.slideMaster+xml"/>
  <Override PartName="/ppt/slideLayouts/update_slideLayout2.xml" ContentType="application/vnd.openxmlformats-officedocument.presentationml.slideLayout+xml"/>
  <Override PartName="/ppt/slideLayouts/update_slideLayout6.xml" ContentType="application/vnd.openxmlformats-officedocument.presentationml.slideLayout+xml"/>
  <Override PartName="/ppt/slideLayouts/update_slideLayout1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theme/panda_theme1.xml" ContentType="application/vnd.openxmlformats-officedocument.theme+xml"/>
  <Override PartName="/ppt/slideMasters/panda_slideMaster1.xml" ContentType="application/vnd.openxmlformats-officedocument.presentationml.slideMaster+xml"/>
  <Override PartName="/ppt/slideMasters/theme/panda_theme2.xml" ContentType="application/vnd.openxmlformats-officedocument.theme+xml"/>
  <Override PartName="/ppt/slideLayouts/panda_slideLayout1.xml" ContentType="application/vnd.openxmlformats-officedocument.presentationml.slideLayout+xml"/>
  <Override PartName="/ppt/slideLayouts/panda_slideLayout2.xml" ContentType="application/vnd.openxmlformats-officedocument.presentationml.slideLayout+xml"/>
  <Override PartName="/ppt/slideLayouts/panda_slideLayout3.xml" ContentType="application/vnd.openxmlformats-officedocument.presentationml.slideLayout+xml"/>
  <Override PartName="/ppt/slideLayouts/panda_slideLayout4.xml" ContentType="application/vnd.openxmlformats-officedocument.presentationml.slideLayout+xml"/>
  <Override PartName="/ppt/slideLayouts/panda_slideLayout5.xml" ContentType="application/vnd.openxmlformats-officedocument.presentationml.slideLayout+xml"/>
  <Override PartName="/ppt/slideLayouts/panda_slideLayout6.xml" ContentType="application/vnd.openxmlformats-officedocument.presentationml.slideLayout+xml"/>
  <Override PartName="/ppt/panda_presProps.xml" ContentType="application/vnd.openxmlformats-officedocument.presentationml.presProps+xml"/>
  <Override PartName="/ppt/panda_tableStyles.xml" ContentType="application/vnd.openxmlformats-officedocument.presentationml.tableStyles+xml"/>
  <Override PartName="/ppt/slides/panda_slide1.xml" ContentType="application/vnd.openxmlformats-officedocument.presentationml.slide+xml"/>
  <Override PartName="/ppt/slides/panda_slide2.xml" ContentType="application/vnd.openxmlformats-officedocument.presentationml.slide+xml"/>
  <Override PartName="/ppt/slides/panda_slide3.xml" ContentType="application/vnd.openxmlformats-officedocument.presentationml.slide+xml"/>
  <Override PartName="/ppt/slides/panda_slide4.xml" ContentType="application/vnd.openxmlformats-officedocument.presentationml.slide+xml"/>
  <Override PartName="/ppt/slides/project_opening1.xml" ContentType="application/vnd.openxmlformats-officedocument.presentationml.slide+xml"/>
  <Override PartName="/ppt/slides/project_opening2.xml" ContentType="application/vnd.openxmlformats-officedocument.presentationml.slide+xml"/>
  <Override PartName="/ppt/slides/sampling_method1.xml" ContentType="application/vnd.openxmlformats-officedocument.presentationml.slide+xml"/>
  <Override PartName="/ppt/slides/sampling_method2.xml" ContentType="application/vnd.openxmlformats-officedocument.presentationml.slide+xml"/>
  <Override PartName="/ppt/slides/sampling_method3.xml" ContentType="application/vnd.openxmlformats-officedocument.presentationml.slide+xml"/>
  <Override PartName="/ppt/slides/sampling_method4.xml" ContentType="application/vnd.openxmlformats-officedocument.presentationml.slide+xml"/>
  <Override PartName="/ppt/slides/sampling_method5.xml" ContentType="application/vnd.openxmlformats-officedocument.presentationml.slide+xml"/>
  <Override PartName="/ppt/slides/sampling_method6.xml" ContentType="application/vnd.openxmlformats-officedocument.presentationml.slide+xml"/>
  <Override PartName="/ppt/slides/sampling_method7.xml" ContentType="application/vnd.openxmlformats-officedocument.presentationml.slide+xml"/>
  <Override PartName="/ppt/slides/sampling_method8.xml" ContentType="application/vnd.openxmlformats-officedocument.presentationml.slide+xml"/>
  <Override PartName="/ppt/slides/sampling_method9.xml" ContentType="application/vnd.openxmlformats-officedocument.presentationml.slide+xml"/>
  <Override PartName="/ppt/slides/sampling_method10.xml" ContentType="application/vnd.openxmlformats-officedocument.presentationml.slide+xml"/>
  <Override PartName="/ppt/slides/sampling_method11.xml" ContentType="application/vnd.openxmlformats-officedocument.presentationml.slide+xml"/>
  <Override PartName="/ppt/slides/sampling_method12.xml" ContentType="application/vnd.openxmlformats-officedocument.presentationml.slide+xml"/>
  <Override PartName="/ppt/slides/sampling_method13.xml" ContentType="application/vnd.openxmlformats-officedocument.presentationml.slide+xml"/>
  <Override PartName="/ppt/slides/sampling_method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>
  <ns0:sldMasterIdLst>
    <ns0:sldMasterId id="2147483648" ns1:id="rId1"/>
    <ns0:sldMasterId id="2147483655" ns1:id="rIdBenchmarkMaster1"/>
    <ns0:sldMasterId id="2147483905" ns1:id="rIdPanda105"/>
  </ns0:sldMasterIdLst>
  <ns0:sldIdLst>
    <ns0:sldId id="605" ns1:id="rIdProjectOpening1"/>
    <ns0:sldId id="606" ns1:id="rIdProjectOpening2"/>
    <ns0:sldId id="264" ns1:id="rIdBenchmarkCover"/>
    <ns0:sldId id="611" ns1:id="rIdSamplingMethod1"/>
    <ns0:sldId id="612" ns1:id="rIdSamplingMethod2"/>
    <ns0:sldId id="613" ns1:id="rIdSamplingMethod3"/>
    <ns0:sldId id="614" ns1:id="rIdSamplingMethod4"/>
    <ns0:sldId id="615" ns1:id="rIdSamplingMethod5"/>
    <ns0:sldId id="616" ns1:id="rIdSamplingMethod6"/>
    <ns0:sldId id="617" ns1:id="rIdSamplingMethod7"/>
    <ns0:sldId id="618" ns1:id="rIdSamplingMethod8"/>
    <ns0:sldId id="619" ns1:id="rIdSamplingMethod9"/>
    <ns0:sldId id="620" ns1:id="rIdSamplingMethod10"/>
    <ns0:sldId id="621" ns1:id="rIdSamplingMethod11"/>
    <ns0:sldId id="622" ns1:id="rIdSamplingMethod12"/>
    <ns0:sldId id="257" ns1:id="rId3"/>
    <ns0:sldId id="623" ns1:id="rIdSamplingMethod13"/>
    <ns0:sldId id="258" ns1:id="rId4"/>
    <ns0:sldId id="624" ns1:id="rIdSamplingMethod14"/>
    <ns0:sldId id="259" ns1:id="rId5"/>
    <ns0:sldId id="260" ns1:id="rId6"/>
    <ns0:sldId id="261" ns1:id="rId7"/>
    <ns0:sldId id="262" ns1:id="rId8"/>
    <ns0:sldId id="263" ns1:id="rId9"/>
    <ns0:sldId id="265" ns1:id="rIdBenchmarkValidation"/>
    <ns0:sldId id="266" ns1:id="rIdPandaSection1"/>
    <ns0:sldId id="601" ns1:id="rIdPanda101"/>
    <ns0:sldId id="602" ns1:id="rIdPanda102"/>
    <ns0:sldId id="271" ns1:id="rIdPandaBug"/>
    <ns0:sldId id="603" ns1:id="rIdPanda103"/>
    <ns0:sldId id="272" ns1:id="rIdPandaBugDetail"/>
    <ns0:sldId id="267" ns1:id="rIdPandaSection2"/>
    <ns0:sldId id="268" ns1:id="rIdPandaSection3"/>
    <ns0:sldId id="604" ns1:id="rIdPanda104"/>
    <ns0:sldId id="269" ns1:id="rIdPandaSection4"/>
    <ns0:sldId id="270" ns1:id="rIdPandaSection5"/>
  </ns0:sldIdLst>
  <ns0:sldSz cx="12192000" cy="6858000"/>
  <ns0:notesSz cx="6858000" cy="9144000"/>
  <ns0:defaultTextStyle>
    <ns2:defPPr>
      <ns2:defRPr lang="en-US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anda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panda_tableStyles.xml><?xml version="1.0" encoding="utf-8"?>
<a:tblStyleLst xmlns:a="http://schemas.openxmlformats.org/drawingml/2006/main" def="{5C22544A-7EE6-4342-B048-85BDC9FD1C3A}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50"/>
  </p:normalViewPr>
  <p:slideViewPr>
    <p:cSldViewPr snapToGrid="0">
      <p:cViewPr>
        <p:scale>
          <a:sx n="134" d="100"/>
          <a:sy n="134" d="100"/>
        </p:scale>
        <p:origin x="-216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ns0:Relationships xmlns:ns0="http://schemas.openxmlformats.org/package/2006/relationships"><ns0:Relationship Id="rId8" Type="http://schemas.openxmlformats.org/officeDocument/2006/relationships/slide" Target="slides/slide7.xml"/><ns0:Relationship Id="rId13" Type="http://schemas.openxmlformats.org/officeDocument/2006/relationships/tableStyles" Target="tableStyles.xml"/><ns0:Relationship Id="rId3" Type="http://schemas.openxmlformats.org/officeDocument/2006/relationships/slide" Target="slides/slide2.xml"/><ns0:Relationship Id="rId7" Type="http://schemas.openxmlformats.org/officeDocument/2006/relationships/slide" Target="slides/slide6.xml"/><ns0:Relationship Id="rId12" Type="http://schemas.openxmlformats.org/officeDocument/2006/relationships/theme" Target="theme/theme1.xml"/><ns0:Relationship Id="rId1" Type="http://schemas.openxmlformats.org/officeDocument/2006/relationships/slideMaster" Target="slideMasters/slideMaster1.xml"/><ns0:Relationship Id="rId6" Type="http://schemas.openxmlformats.org/officeDocument/2006/relationships/slide" Target="slides/slide5.xml"/><ns0:Relationship Id="rId11" Type="http://schemas.openxmlformats.org/officeDocument/2006/relationships/viewProps" Target="viewProps.xml"/><ns0:Relationship Id="rId5" Type="http://schemas.openxmlformats.org/officeDocument/2006/relationships/slide" Target="slides/slide4.xml"/><ns0:Relationship Id="rId10" Type="http://schemas.openxmlformats.org/officeDocument/2006/relationships/presProps" Target="presProps.xml"/><ns0:Relationship Id="rId4" Type="http://schemas.openxmlformats.org/officeDocument/2006/relationships/slide" Target="slides/slide3.xml"/><ns0:Relationship Id="rId9" Type="http://schemas.openxmlformats.org/officeDocument/2006/relationships/slide" Target="slides/slide8.xml"/><ns0:Relationship Id="rIdBenchmarkCover" Type="http://schemas.openxmlformats.org/officeDocument/2006/relationships/slide" Target="slides/slide9.xml"/><ns0:Relationship Id="rIdBenchmarkValidation" Type="http://schemas.openxmlformats.org/officeDocument/2006/relationships/slide" Target="slides/slide10.xml"/><ns0:Relationship Id="rIdBenchmarkMaster1" Type="http://schemas.openxmlformats.org/officeDocument/2006/relationships/slideMaster" Target="slideMasters/update_slideMaster1.xml"/><ns0:Relationship Id="rIdPandaSection1" Type="http://schemas.openxmlformats.org/officeDocument/2006/relationships/slide" Target="slides/slide11.xml"/><ns0:Relationship Id="rIdPandaSection2" Type="http://schemas.openxmlformats.org/officeDocument/2006/relationships/slide" Target="slides/slide12.xml"/><ns0:Relationship Id="rIdPandaSection3" Type="http://schemas.openxmlformats.org/officeDocument/2006/relationships/slide" Target="slides/slide13.xml"/><ns0:Relationship Id="rIdPandaSection4" Type="http://schemas.openxmlformats.org/officeDocument/2006/relationships/slide" Target="slides/slide14.xml"/><ns0:Relationship Id="rIdPandaSection5" Type="http://schemas.openxmlformats.org/officeDocument/2006/relationships/slide" Target="slides/slide15.xml"/><ns0:Relationship Id="rIdPandaBug" Type="http://schemas.openxmlformats.org/officeDocument/2006/relationships/slide" Target="slides/slide16.xml"/><ns0:Relationship Id="rIdPandaBugDetail" Type="http://schemas.openxmlformats.org/officeDocument/2006/relationships/slide" Target="slides/slide17.xml"/><ns0:Relationship Id="rIdPanda101" Type="http://schemas.openxmlformats.org/officeDocument/2006/relationships/slide" Target="slides/panda_slide1.xml"/><ns0:Relationship Id="rIdPanda102" Type="http://schemas.openxmlformats.org/officeDocument/2006/relationships/slide" Target="slides/panda_slide2.xml"/><ns0:Relationship Id="rIdPanda103" Type="http://schemas.openxmlformats.org/officeDocument/2006/relationships/slide" Target="slides/panda_slide3.xml"/><ns0:Relationship Id="rIdPanda104" Type="http://schemas.openxmlformats.org/officeDocument/2006/relationships/slide" Target="slides/panda_slide4.xml"/><ns0:Relationship Id="rIdPanda105" Type="http://schemas.openxmlformats.org/officeDocument/2006/relationships/slideMaster" Target="slideMasters/panda_slideMaster1.xml"/><ns0:Relationship Id="rIdProjectOpening1" Type="http://schemas.openxmlformats.org/officeDocument/2006/relationships/slide" Target="slides/project_opening1.xml"/><ns0:Relationship Id="rIdProjectOpening2" Type="http://schemas.openxmlformats.org/officeDocument/2006/relationships/slide" Target="slides/project_opening2.xml"/><ns0:Relationship Id="rIdSamplingMethod1" Type="http://schemas.openxmlformats.org/officeDocument/2006/relationships/slide" Target="slides/sampling_method1.xml"/><ns0:Relationship Id="rIdSamplingMethod2" Type="http://schemas.openxmlformats.org/officeDocument/2006/relationships/slide" Target="slides/sampling_method2.xml"/><ns0:Relationship Id="rIdSamplingMethod3" Type="http://schemas.openxmlformats.org/officeDocument/2006/relationships/slide" Target="slides/sampling_method3.xml"/><ns0:Relationship Id="rIdSamplingMethod4" Type="http://schemas.openxmlformats.org/officeDocument/2006/relationships/slide" Target="slides/sampling_method4.xml"/><ns0:Relationship Id="rIdSamplingMethod5" Type="http://schemas.openxmlformats.org/officeDocument/2006/relationships/slide" Target="slides/sampling_method5.xml"/><ns0:Relationship Id="rIdSamplingMethod6" Type="http://schemas.openxmlformats.org/officeDocument/2006/relationships/slide" Target="slides/sampling_method6.xml"/><ns0:Relationship Id="rIdSamplingMethod7" Type="http://schemas.openxmlformats.org/officeDocument/2006/relationships/slide" Target="slides/sampling_method7.xml"/><ns0:Relationship Id="rIdSamplingMethod8" Type="http://schemas.openxmlformats.org/officeDocument/2006/relationships/slide" Target="slides/sampling_method8.xml"/><ns0:Relationship Id="rIdSamplingMethod9" Type="http://schemas.openxmlformats.org/officeDocument/2006/relationships/slide" Target="slides/sampling_method9.xml"/><ns0:Relationship Id="rIdSamplingMethod10" Type="http://schemas.openxmlformats.org/officeDocument/2006/relationships/slide" Target="slides/sampling_method10.xml"/><ns0:Relationship Id="rIdSamplingMethod11" Type="http://schemas.openxmlformats.org/officeDocument/2006/relationships/slide" Target="slides/sampling_method11.xml"/><ns0:Relationship Id="rIdSamplingMethod12" Type="http://schemas.openxmlformats.org/officeDocument/2006/relationships/slide" Target="slides/sampling_method12.xml"/><ns0:Relationship Id="rIdSamplingMethod13" Type="http://schemas.openxmlformats.org/officeDocument/2006/relationships/slide" Target="slides/sampling_method13.xml"/><ns0:Relationship Id="rIdSamplingMethod14" Type="http://schemas.openxmlformats.org/officeDocument/2006/relationships/slide" Target="slides/sampling_method14.xml"/></ns0:Relationships>
</file>

<file path=ppt/slideLayouts/_rels/panda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panda_slideMaster1.xml" Id="R7d6ea54ec5ad44df" /></ns0:Relationships>
</file>

<file path=ppt/slideLayouts/_rels/panda_slideLayout2.xml.rels><?xml version='1.0' encoding='utf-8'?>
<ns0:Relationships xmlns:ns0="http://schemas.openxmlformats.org/package/2006/relationships"><ns0:Relationship Type="http://schemas.openxmlformats.org/officeDocument/2006/relationships/slideMaster" Target="../slideMasters/panda_slideMaster1.xml" Id="Racff796838514abb" /></ns0:Relationships>
</file>

<file path=ppt/slideLayouts/_rels/panda_slideLayout3.xml.rels><?xml version='1.0' encoding='utf-8'?>
<ns0:Relationships xmlns:ns0="http://schemas.openxmlformats.org/package/2006/relationships"><ns0:Relationship Type="http://schemas.openxmlformats.org/officeDocument/2006/relationships/slideMaster" Target="../slideMasters/panda_slideMaster1.xml" Id="R8a1f4cff7f71440c" /></ns0:Relationships>
</file>

<file path=ppt/slideLayouts/_rels/panda_slideLayout4.xml.rels><?xml version='1.0' encoding='utf-8'?>
<ns0:Relationships xmlns:ns0="http://schemas.openxmlformats.org/package/2006/relationships"><ns0:Relationship Type="http://schemas.openxmlformats.org/officeDocument/2006/relationships/slideMaster" Target="../slideMasters/panda_slideMaster1.xml" Id="Rd1394fbffff64f90" /></ns0:Relationships>
</file>

<file path=ppt/slideLayouts/_rels/panda_slideLayout5.xml.rels><?xml version='1.0' encoding='utf-8'?>
<ns0:Relationships xmlns:ns0="http://schemas.openxmlformats.org/package/2006/relationships"><ns0:Relationship Type="http://schemas.openxmlformats.org/officeDocument/2006/relationships/slideMaster" Target="../slideMasters/panda_slideMaster1.xml" Id="R1e3b69d672364285" /></ns0:Relationships>
</file>

<file path=ppt/slideLayouts/_rels/panda_slideLayout6.xml.rels><?xml version='1.0' encoding='utf-8'?>
<ns0:Relationships xmlns:ns0="http://schemas.openxmlformats.org/package/2006/relationships"><ns0:Relationship Type="http://schemas.openxmlformats.org/officeDocument/2006/relationships/slideMaster" Target="../slideMasters/panda_slideMaster1.xml" Id="Rf41750af2c4947f2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update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update_slideMaster1.xml" Id="R0961cd97256749ff"/></Relationships>
</file>

<file path=ppt/slideLayouts/_rels/update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update_slideMaster1.xml" Id="Rcd2edd4ad5de425b"/></Relationships>
</file>

<file path=ppt/slideLayouts/_rels/update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update_slideMaster1.xml" Id="R7807cd4cd0224dc2"/></Relationships>
</file>

<file path=ppt/slideLayouts/_rels/update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update_slideMaster1.xml" Id="Rd26225237a064b7a"/></Relationships>
</file>

<file path=ppt/slideLayouts/_rels/update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update_slideMaster1.xml" Id="R26671b0416d34c8d"/></Relationships>
</file>

<file path=ppt/slideLayouts/_rels/update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update_slideMaster1.xml" Id="Rf4915af5643b47bf"/></Relationships>
</file>

<file path=ppt/slideLayouts/panda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03FBA6-9769-4FCD-B544-C4669C1FCC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D00904-C055-4FA3-A549-6E2CC49166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panda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FD53FE7-9040-41E6-A6FB-724B25B5CF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panda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F9E399-CCA6-4CF7-BDE0-B0A0A84B48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B585C02-AE0F-4F8F-98FC-CEA4EDD0EF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panda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D93C9D-6952-4682-8A4F-C351526490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0B742B-EC6F-419E-BA85-79874108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4E57A5-BB00-44E3-BEF4-5B8F0F276F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panda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F62814-5E95-4DE3-AD6E-7734DF7FC0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FA14CC-6D79-4802-AA8B-425DDD4802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panda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06B009F-C8BC-47DE-A7B6-67343CBC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8829EEC-E4F9-444A-BD2C-13B4935C1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A287494-CF66-442E-AC9B-B2B24F486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10CEE8D-A2CB-4D77-AD39-13562AE62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E7F1A0D-6F1C-4D09-8FE3-E5DCCD721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B1DF8CC-3588-4C52-B448-3098874C4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F2F3557-E357-4543-8B91-075DD0EEA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EE0A109-5A12-43C2-8870-E9D99A3E655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7FF4F97-10BC-4E54-9322-B5711EA25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B2C59F7-58C5-474E-A7CE-CF2CA140D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update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9DF653-583A-460D-B3EB-1A6FF896B3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825C465-759A-4047-8114-27A5371F37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update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F567DC-21B7-4C56-93EE-9C89F6FAFA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update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590DE6-7306-4635-B0E7-5BE487294A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A3D8FA-DAEC-4DD5-8A22-020C5AFD80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update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CEA934D-D949-41C0-B16D-F980E6FB7E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05208B-9890-4979-B258-674D012B51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58E91D5-7F2C-4BBF-BCAE-CE4A226129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update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5BCB2F-6F46-4703-B2B8-EABD226D8E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9D9485-EBE5-4620-B5A1-E8F448CF30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update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panda_slideMaster1.xml.rels><?xml version='1.0' encoding='utf-8'?>
<ns0:Relationships xmlns:ns0="http://schemas.openxmlformats.org/package/2006/relationships"><ns0:Relationship Type="http://schemas.openxmlformats.org/officeDocument/2006/relationships/theme" Target="theme/panda_theme2.xml" Id="R50f062effa994e14" /><ns0:Relationship Type="http://schemas.openxmlformats.org/officeDocument/2006/relationships/slideLayout" Target="../slideLayouts/panda_slideLayout1.xml" Id="R58af284775ee468e" /><ns0:Relationship Type="http://schemas.openxmlformats.org/officeDocument/2006/relationships/slideLayout" Target="../slideLayouts/panda_slideLayout2.xml" Id="Rbb4d12a9fe644e46" /><ns0:Relationship Type="http://schemas.openxmlformats.org/officeDocument/2006/relationships/slideLayout" Target="../slideLayouts/panda_slideLayout3.xml" Id="R31d9122403ce41f9" /><ns0:Relationship Type="http://schemas.openxmlformats.org/officeDocument/2006/relationships/slideLayout" Target="../slideLayouts/panda_slideLayout4.xml" Id="R9f76bb5ad6b64584" /><ns0:Relationship Type="http://schemas.openxmlformats.org/officeDocument/2006/relationships/slideLayout" Target="../slideLayouts/panda_slideLayout5.xml" Id="R6b3072dcd0b34092" /><ns0:Relationship Type="http://schemas.openxmlformats.org/officeDocument/2006/relationships/slideLayout" Target="../slideLayouts/panda_slideLayout6.xml" Id="R1cd58c9e17374da0" /></ns0:Relationships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update_slideMaster1.xml.rels><?xml version='1.0' encoding='UTF-8' standalone='yes'?>
<Relationships xmlns="http://schemas.openxmlformats.org/package/2006/relationships"><Relationship Type="http://schemas.openxmlformats.org/officeDocument/2006/relationships/theme" Target="theme/update_theme2.xml" Id="R8ac4f753f12e4a4d"/><Relationship Type="http://schemas.openxmlformats.org/officeDocument/2006/relationships/slideLayout" Target="../slideLayouts/update_slideLayout1.xml" Id="Refc26e95373b44bd"/><Relationship Type="http://schemas.openxmlformats.org/officeDocument/2006/relationships/slideLayout" Target="../slideLayouts/update_slideLayout2.xml" Id="Rfc1f5ae2e1704803"/><Relationship Type="http://schemas.openxmlformats.org/officeDocument/2006/relationships/slideLayout" Target="../slideLayouts/update_slideLayout3.xml" Id="Rf21ad08e90464522"/><Relationship Type="http://schemas.openxmlformats.org/officeDocument/2006/relationships/slideLayout" Target="../slideLayouts/update_slideLayout4.xml" Id="R8cea81e766864c2f"/><Relationship Type="http://schemas.openxmlformats.org/officeDocument/2006/relationships/slideLayout" Target="../slideLayouts/update_slideLayout5.xml" Id="R2008e55bfff34fd2"/><Relationship Type="http://schemas.openxmlformats.org/officeDocument/2006/relationships/slideLayout" Target="../slideLayouts/update_slideLayout6.xml" Id="R59d459195db4406b"/></Relationships>
</file>

<file path=ppt/slideMasters/panda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4001" r:id="R58af284775ee468e"/>
    <p:sldLayoutId xmlns:r="http://schemas.openxmlformats.org/officeDocument/2006/relationships" id="2147484002" r:id="Rbb4d12a9fe644e46"/>
    <p:sldLayoutId xmlns:r="http://schemas.openxmlformats.org/officeDocument/2006/relationships" id="2147484003" r:id="R31d9122403ce41f9"/>
    <p:sldLayoutId xmlns:r="http://schemas.openxmlformats.org/officeDocument/2006/relationships" id="2147484004" r:id="R9f76bb5ad6b64584"/>
    <p:sldLayoutId xmlns:r="http://schemas.openxmlformats.org/officeDocument/2006/relationships" id="2147484005" r:id="R6b3072dcd0b34092"/>
    <p:sldLayoutId xmlns:r="http://schemas.openxmlformats.org/officeDocument/2006/relationships" id="2147484006" r:id="R1cd58c9e17374d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panda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update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update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efc26e95373b44bd"/>
    <p:sldLayoutId xmlns:r="http://schemas.openxmlformats.org/officeDocument/2006/relationships" id="2147483657" r:id="Rfc1f5ae2e1704803"/>
    <p:sldLayoutId xmlns:r="http://schemas.openxmlformats.org/officeDocument/2006/relationships" id="2147483658" r:id="Rf21ad08e90464522"/>
    <p:sldLayoutId xmlns:r="http://schemas.openxmlformats.org/officeDocument/2006/relationships" id="2147483659" r:id="R8cea81e766864c2f"/>
    <p:sldLayoutId xmlns:r="http://schemas.openxmlformats.org/officeDocument/2006/relationships" id="2147483660" r:id="R2008e55bfff34fd2"/>
    <p:sldLayoutId xmlns:r="http://schemas.openxmlformats.org/officeDocument/2006/relationships" id="2147483661" r:id="R59d459195db440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panda_slide1.xml.rels><?xml version='1.0' encoding='UTF-8' standalone='yes'?>
<ns0:Relationships xmlns:ns0="http://schemas.openxmlformats.org/package/2006/relationships"><ns0:Relationship Type="http://schemas.openxmlformats.org/officeDocument/2006/relationships/slideLayout" Target="../slideLayouts/panda_slideLayout6.xml" Id="R2c2e206b9b474c4d"/><ns0:Relationship Type="http://schemas.openxmlformats.org/officeDocument/2006/relationships/image" Target="../media/panda_image.png" Id="R17a3387c2d794bb3"/><ns0:Relationship Id="rIdVisibleSource1" Type="http://schemas.openxmlformats.org/officeDocument/2006/relationships/hyperlink" Target="https://arxiv.org/abs/2505.13755" TargetMode="External"/><ns0:Relationship Id="rIdVisibleSource2" Type="http://schemas.openxmlformats.org/officeDocument/2006/relationships/hyperlink" Target="https://github.com/abao1999/panda/blob/c229e7c8c49cbe294458c44160248bb17856a715/panda/patchtst/patchtst.py" TargetMode="External"/><ns0:Relationship Id="rIdVisibleSource3" Type="http://schemas.openxmlformats.org/officeDocument/2006/relationships/hyperlink" Target="https://huggingface.co/GilpinLab/panda" TargetMode="External"/></ns0:Relationships>
</file>

<file path=ppt/slides/_rels/panda_slide2.xml.rels><?xml version='1.0' encoding='UTF-8' standalone='yes'?>
<ns0:Relationships xmlns:ns0="http://schemas.openxmlformats.org/package/2006/relationships"><ns0:Relationship Type="http://schemas.openxmlformats.org/officeDocument/2006/relationships/slideLayout" Target="../slideLayouts/panda_slideLayout6.xml" Id="R700427f4be924c46"/><ns0:Relationship Id="rIdVisibleSource1" Type="http://schemas.openxmlformats.org/officeDocument/2006/relationships/hyperlink" Target="https://arxiv.org/abs/2505.13755" TargetMode="External"/><ns0:Relationship Id="rIdVisibleSource2" Type="http://schemas.openxmlformats.org/officeDocument/2006/relationships/hyperlink" Target="https://github.com/abao1999/panda/blob/c229e7c8c49cbe294458c44160248bb17856a715/panda/patchtst/patchtst.py" TargetMode="External"/></ns0:Relationships>
</file>

<file path=ppt/slides/_rels/panda_slide3.xml.rels><?xml version='1.0' encoding='UTF-8' standalone='yes'?>
<ns0:Relationships xmlns:ns0="http://schemas.openxmlformats.org/package/2006/relationships"><ns0:Relationship Type="http://schemas.openxmlformats.org/officeDocument/2006/relationships/slideLayout" Target="../slideLayouts/panda_slideLayout6.xml" Id="R501b1f0409494deb"/><ns0:Relationship Id="rIdVisibleSource1" Type="http://schemas.openxmlformats.org/officeDocument/2006/relationships/hyperlink" Target="https://arxiv.org/abs/2505.13755" TargetMode="External"/><ns0:Relationship Id="rIdVisibleSource2" Type="http://schemas.openxmlformats.org/officeDocument/2006/relationships/hyperlink" Target="https://github.com/abao1999/panda/blob/c229e7c8c49cbe294458c44160248bb17856a715/panda/patchtst/modules.py" TargetMode="External"/><ns0:Relationship Id="rIdVisibleSource3" Type="http://schemas.openxmlformats.org/officeDocument/2006/relationships/hyperlink" Target="https://huggingface.co/GilpinLab/panda/blob/0ede89c96f555749781978c5dea7f62e813a5ff6/config.json" TargetMode="External"/><ns0:Relationship Id="rIdFourierMath1" Type="http://schemas.openxmlformats.org/officeDocument/2006/relationships/image" Target="../media/fourier_equation_1.png"/><ns0:Relationship Id="rIdFourierMath2" Type="http://schemas.openxmlformats.org/officeDocument/2006/relationships/image" Target="../media/fourier_equation_2.png"/><ns0:Relationship Id="rIdFourierMath3" Type="http://schemas.openxmlformats.org/officeDocument/2006/relationships/image" Target="../media/fourier_equation_3.png"/><ns0:Relationship Id="rIdFourierMath4" Type="http://schemas.openxmlformats.org/officeDocument/2006/relationships/image" Target="../media/fourier_equation_4.png"/></ns0:Relationships>
</file>

<file path=ppt/slides/_rels/panda_slide4.xml.rels><?xml version='1.0' encoding='UTF-8' standalone='yes'?>
<ns0:Relationships xmlns:ns0="http://schemas.openxmlformats.org/package/2006/relationships"><ns0:Relationship Type="http://schemas.openxmlformats.org/officeDocument/2006/relationships/slideLayout" Target="../slideLayouts/panda_slideLayout6.xml" Id="R92e6ddd3274141b6"/><ns0:Relationship Id="rIdVisibleSource1" Type="http://schemas.openxmlformats.org/officeDocument/2006/relationships/hyperlink" Target="https://arxiv.org/abs/2505.13755" TargetMode="External"/><ns0:Relationship Id="rIdVisibleSource2" Type="http://schemas.openxmlformats.org/officeDocument/2006/relationships/hyperlink" Target="https://github.com/abao1999/panda/blob/c229e7c8c49cbe294458c44160248bb17856a715/panda/patchtst/pipeline.py" TargetMode="External"/></ns0:Relationships>
</file>

<file path=ppt/slides/_rels/project_opening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3889fee4b35f4065"/></Relationships>
</file>

<file path=ppt/slides/_rels/project_opening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efefc8e9e6894550"/><Relationship Id="rIdBenchmarkJump" Type="http://schemas.openxmlformats.org/officeDocument/2006/relationships/slide" Target="slide9.xml"/><Relationship Id="rIdPandaJump" Type="http://schemas.openxmlformats.org/officeDocument/2006/relationships/slide" Target="slide11.xml"/></Relationships>
</file>

<file path=ppt/slides/_rels/sampling_method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2ea06addf21746f5"/><Relationship Id="rIdSamplingCitation1" Type="http://schemas.openxmlformats.org/officeDocument/2006/relationships/hyperlink" Target="https://arxiv.org/abs/2505.13755" TargetMode="External"/><Relationship Id="rIdSamplingCitation2" Type="http://schemas.openxmlformats.org/officeDocument/2006/relationships/hyperlink" Target="https://arxiv.org/abs/2110.05266" TargetMode="External"/><Relationship Id="rIdSamplingCitation3" Type="http://schemas.openxmlformats.org/officeDocument/2006/relationships/hyperlink" Target="https://github.com/GilpinLab/dysts" TargetMode="External"/></Relationships>
</file>

<file path=ppt/slides/_rels/sampling_method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2d62963eb892410e"/><Relationship Type="http://schemas.openxmlformats.org/officeDocument/2006/relationships/image" Target="../media/sampling_image.png" Id="Rc59cf23a5c06410f"/><Relationship Id="rIdSamplingCitation1" Type="http://schemas.openxmlformats.org/officeDocument/2006/relationships/hyperlink" Target="https://docs.scipy.org/doc/scipy/reference/generated/scipy.integrate.solve_ivp.html" TargetMode="External"/><Relationship Id="rIdSamplingCitation2" Type="http://schemas.openxmlformats.org/officeDocument/2006/relationships/hyperlink" Target="https://github.com/GilpinLab/dysts/blob/master/dysts/utils/integration_utils.py" TargetMode="External"/></Relationships>
</file>

<file path=ppt/slides/_rels/sampling_method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e3a5cb1ef6af4e81"/><Relationship Id="rIdSamplingCitation1" Type="http://schemas.openxmlformats.org/officeDocument/2006/relationships/hyperlink" Target="https://github.com/GilpinLab/dysts/blob/master/dysts/analysis.py#L83-L141" TargetMode="External"/><Relationship Id="rIdSamplingCitation2" Type="http://schemas.openxmlformats.org/officeDocument/2006/relationships/hyperlink" Target="https://arxiv.org/abs/2110.05266" TargetMode="External"/></Relationships>
</file>

<file path=ppt/slides/_rels/sampling_method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f92ae703658f492e"/><Relationship Type="http://schemas.openxmlformats.org/officeDocument/2006/relationships/image" Target="../media/sampling_image2.png" Id="R9ba4f20a1293440c"/><Relationship Id="rIdSamplingCitation1" Type="http://schemas.openxmlformats.org/officeDocument/2006/relationships/hyperlink" Target="https://github.com/GilpinLab/dysts/blob/master/dysts/utils/utils.py" TargetMode="External"/><Relationship Id="rIdSamplingCitation2" Type="http://schemas.openxmlformats.org/officeDocument/2006/relationships/hyperlink" Target="https://docs.scipy.org/doc/scipy/reference/generated/scipy.ndimage.gaussian_filter1d.html" TargetMode="External"/><Relationship Id="rIdMethodEquation1" Type="http://schemas.openxmlformats.org/officeDocument/2006/relationships/image" Target="../media/sampling_equation1.png"/><Relationship Id="rIdMethodEquation2" Type="http://schemas.openxmlformats.org/officeDocument/2006/relationships/image" Target="../media/sampling_equation2.png"/></Relationships>
</file>

<file path=ppt/slides/_rels/sampling_method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cb9dd737854049e0"/><Relationship Type="http://schemas.openxmlformats.org/officeDocument/2006/relationships/image" Target="../media/sampling_image3.png" Id="R31b01f0f53cf4715"/><Relationship Id="rIdSamplingCitation1" Type="http://schemas.openxmlformats.org/officeDocument/2006/relationships/hyperlink" Target="https://github.com/GilpinLab/dysts/blob/master/dysts/utils/utils.py" TargetMode="External"/><Relationship Id="rIdSamplingCitation2" Type="http://schemas.openxmlformats.org/officeDocument/2006/relationships/hyperlink" Target="https://docs.scipy.org/doc/scipy/reference/generated/scipy.signal.windows.blackmanharris.html" TargetMode="External"/><Relationship Id="rIdMethodEquation3" Type="http://schemas.openxmlformats.org/officeDocument/2006/relationships/image" Target="../media/sampling_equation3.png"/></Relationships>
</file>

<file path=ppt/slides/_rels/sampling_method6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888a785397a74d72"/><Relationship Type="http://schemas.openxmlformats.org/officeDocument/2006/relationships/image" Target="../media/sampling_image4.png" Id="R50301485d77344b1"/><Relationship Id="rIdSamplingCitation1" Type="http://schemas.openxmlformats.org/officeDocument/2006/relationships/hyperlink" Target="https://github.com/GilpinLab/dysts/blob/master/dysts/utils/utils.py" TargetMode="External"/><Relationship Id="rIdSamplingCitation2" Type="http://schemas.openxmlformats.org/officeDocument/2006/relationships/hyperlink" Target="https://github.com/GilpinLab/dysts/blob/master/dysts/utils/native_utils.py" TargetMode="External"/><Relationship Id="rIdSamplingCitation3" Type="http://schemas.openxmlformats.org/officeDocument/2006/relationships/hyperlink" Target="https://docs.scipy.org/doc/scipy/reference/generated/scipy.signal.periodogram.html" TargetMode="External"/><Relationship Id="rIdMethodEquation4" Type="http://schemas.openxmlformats.org/officeDocument/2006/relationships/image" Target="../media/sampling_equation4.png"/></Relationships>
</file>

<file path=ppt/slides/_rels/sampling_method7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dfd23b35f7d04f79"/><Relationship Id="rIdSamplingCitation1" Type="http://schemas.openxmlformats.org/officeDocument/2006/relationships/hyperlink" Target="https://github.com/GilpinLab/dysts/blob/master/dysts/analysis.py#L123-L140" TargetMode="External"/><Relationship Id="rIdSamplingCitation2" Type="http://schemas.openxmlformats.org/officeDocument/2006/relationships/hyperlink" Target="https://arxiv.org/abs/2110.05266" TargetMode="External"/><Relationship Id="rIdMethodEquation5" Type="http://schemas.openxmlformats.org/officeDocument/2006/relationships/image" Target="../media/sampling_equation5.png"/><Relationship Id="rIdMethodEquation6" Type="http://schemas.openxmlformats.org/officeDocument/2006/relationships/image" Target="../media/sampling_equation6.png"/></Relationships>
</file>

<file path=ppt/slides/_rels/sampling_method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afd6e6f1b74f4789"/><Relationship Id="rIdSamplingCitation1" Type="http://schemas.openxmlformats.org/officeDocument/2006/relationships/hyperlink" Target="https://arxiv.org/abs/2505.13755" TargetMode="External"/><Relationship Id="rIdSamplingCitation2" Type="http://schemas.openxmlformats.org/officeDocument/2006/relationships/hyperlink" Target="https://github.com/GilpinLab/dysts/blob/master/dysts/base.py#L311-L325" TargetMode="External"/><Relationship Id="rIdSamplingCitation3" Type="http://schemas.openxmlformats.org/officeDocument/2006/relationships/hyperlink" Target="https://github.com/abao1999/panda/blob/c229e7c8c49cbe294458c44160248bb17856a715/panda/dyst_data.py" TargetMode="External"/><Relationship Id="rIdMethodEquation7" Type="http://schemas.openxmlformats.org/officeDocument/2006/relationships/image" Target="../media/sampling_equation7.png"/><Relationship Id="rIdMethodEquation8" Type="http://schemas.openxmlformats.org/officeDocument/2006/relationships/image" Target="../media/sampling_equation8.png"/></Relationships>
</file>

<file path=ppt/slides/_rels/sampling_method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109f23e8b3b64a06"/><Relationship Id="rIdSamplingCitation1" Type="http://schemas.openxmlformats.org/officeDocument/2006/relationships/hyperlink" Target="https://github.com/GilpinLab/dysts/blob/master/dysts/utils/utils.py" TargetMode="External"/><Relationship Id="rIdSamplingCitation2" Type="http://schemas.openxmlformats.org/officeDocument/2006/relationships/hyperlink" Target="https://github.com/GilpinLab/dysts/blob/master/dysts/analysis.py#L123-L130" TargetMode="External"/><Relationship Id="rIdMethodEquation9" Type="http://schemas.openxmlformats.org/officeDocument/2006/relationships/image" Target="../media/sampling_equation9.png"/></Relationships>
</file>

<file path=ppt/slides/_rels/sampling_method1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2aec6e8ada9a4562"/><Relationship Id="rIdSamplingCitation1" Type="http://schemas.openxmlformats.org/officeDocument/2006/relationships/hyperlink" Target="https://github.com/GilpinLab/dysts/blob/master/dysts/analysis.py#L123-L140" TargetMode="External"/><Relationship Id="rIdSamplingCitation2" Type="http://schemas.openxmlformats.org/officeDocument/2006/relationships/hyperlink" Target="https://github.com/GilpinLab/dysts/blob/master/dysts/utils/integration_utils.py#L127-L135" TargetMode="External"/><Relationship Id="rIdSamplingCitation3" Type="http://schemas.openxmlformats.org/officeDocument/2006/relationships/hyperlink" Target="https://github.com/abao1999/panda/blob/c229e7c8c49cbe294458c44160248bb17856a715/panda/skew_system.py#L43-L48" TargetMode="External"/><Relationship Id="rIdMethodEquation10" Type="http://schemas.openxmlformats.org/officeDocument/2006/relationships/image" Target="../media/sampling_equation10.png"/><Relationship Id="rIdMethodEquation11" Type="http://schemas.openxmlformats.org/officeDocument/2006/relationships/image" Target="../media/sampling_equation11.png"/></Relationships>
</file>

<file path=ppt/slides/_rels/sampling_method1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2aacf87baf7d4ab1"/><Relationship Id="rIdSamplingCitation1" Type="http://schemas.openxmlformats.org/officeDocument/2006/relationships/hyperlink" Target="https://arxiv.org/abs/2505.13755" TargetMode="External"/><Relationship Id="rIdSamplingCitation2" Type="http://schemas.openxmlformats.org/officeDocument/2006/relationships/hyperlink" Target="https://docs.scipy.org/doc/scipy/reference/generated/scipy.integrate.solve_ivp.html" TargetMode="External"/><Relationship Id="rIdMethodEquation12" Type="http://schemas.openxmlformats.org/officeDocument/2006/relationships/image" Target="../media/sampling_equation12.png"/></Relationships>
</file>

<file path=ppt/slides/_rels/sampling_method1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2d782a55fb2f475c"/><Relationship Type="http://schemas.openxmlformats.org/officeDocument/2006/relationships/image" Target="../media/sampling_image5.png" Id="R60d244e464df4897"/><Relationship Id="rIdSamplingCitation1" Type="http://schemas.openxmlformats.org/officeDocument/2006/relationships/hyperlink" Target="https://arxiv.org/abs/2110.05266" TargetMode="External"/><Relationship Id="rIdSamplingCitation2" Type="http://schemas.openxmlformats.org/officeDocument/2006/relationships/hyperlink" Target="https://arxiv.org/abs/2505.13755" TargetMode="External"/><Relationship Id="rIdMethodEquation13" Type="http://schemas.openxmlformats.org/officeDocument/2006/relationships/image" Target="../media/sampling_equation13.png"/></Relationships>
</file>

<file path=ppt/slides/_rels/sampling_method1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e18d07048ed243bd"/></Relationships>
</file>

<file path=ppt/slides/_rels/sampling_method1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5575eb904c9a419f"/><Relationship Id="rIdSamplingCitation2" Type="http://schemas.openxmlformats.org/officeDocument/2006/relationships/hyperlink" Target="https://docs.scipy.org/doc/scipy/reference/generated/scipy.integrate.solve_ivp.htm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update_slideLayout6.xml" Id="R03e08c29d33d451b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update_slideLayout6.xml" Id="R32fe5f310bbe4517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cce67ff3b8db43fe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bc4ba59d957c4a0c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29d415a897474cf8"/><Relationship Id="rIdVisibleSource1" Type="http://schemas.openxmlformats.org/officeDocument/2006/relationships/hyperlink" Target="https://arxiv.org/abs/2505.13755" TargetMode="External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0422b959e99b41ae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71c30db844d1412d"/><Relationship Id="rIdVisibleSource1" Type="http://schemas.openxmlformats.org/officeDocument/2006/relationships/hyperlink" Target="https://huggingface.co/GilpinLab/panda" TargetMode="External"/><Relationship Id="rIdVisibleSource2" Type="http://schemas.openxmlformats.org/officeDocument/2006/relationships/hyperlink" Target="https://github.com/abao1999/panda" TargetMode="External"/></Relationships>
</file>

<file path=ppt/slides/_rels/slide16.xml.rels><?xml version='1.0' encoding='UTF-8' standalone='yes'?>
<ns0:Relationships xmlns:ns0="http://schemas.openxmlformats.org/package/2006/relationships"><ns0:Relationship Type="http://schemas.openxmlformats.org/officeDocument/2006/relationships/slideLayout" Target="../slideLayouts/slideLayout6.xml" Id="R8bc020e49ec24f6b"/><ns0:Relationship Id="rIdVisibleSource1" Type="http://schemas.openxmlformats.org/officeDocument/2006/relationships/hyperlink" Target="https://arxiv.org/abs/2505.13755" TargetMode="External"/><ns0:Relationship Id="rIdVisibleSource2" Type="http://schemas.openxmlformats.org/officeDocument/2006/relationships/hyperlink" Target="https://github.com/abao1999/panda/blob/c229e7c8c49cbe294458c44160248bb17856a715/panda/patchtst/modules.py" TargetMode="External"/><ns0:Relationship Id="rIdVisibleSource3" Type="http://schemas.openxmlformats.org/officeDocument/2006/relationships/hyperlink" Target="https://huggingface.co/GilpinLab/panda/blob/0ede89c96f555749781978c5dea7f62e813a5ff6/config.json" TargetMode="External"/></ns0:Relationships>
</file>

<file path=ppt/slides/_rels/slide17.xml.rels><?xml version='1.0' encoding='UTF-8' standalone='yes'?>
<ns0:Relationships xmlns:ns0="http://schemas.openxmlformats.org/package/2006/relationships"><ns0:Relationship Type="http://schemas.openxmlformats.org/officeDocument/2006/relationships/slideLayout" Target="../slideLayouts/slideLayout6.xml" Id="R4c290824ae1142f4"/><ns0:Relationship Type="http://schemas.openxmlformats.org/officeDocument/2006/relationships/image" Target="../media/panda_issue12.png" Id="R6152954e6f7a44d3"/><ns0:Relationship Id="rIdVisibleSource1" Type="http://schemas.openxmlformats.org/officeDocument/2006/relationships/hyperlink" Target="https://github.com/abao1999/panda/blob/c229e7c8c49cbe294458c44160248bb17856a715/panda/patchtst/modules.py" TargetMode="External"/><ns0:Relationship Id="rIdVisibleSource2" Type="http://schemas.openxmlformats.org/officeDocument/2006/relationships/hyperlink" Target="https://github.com/abao1999/panda/issues/12" TargetMode="External"/><ns0:Relationship Id="rIdVisibleSource3" Type="http://schemas.openxmlformats.org/officeDocument/2006/relationships/hyperlink" Target="https://huggingface.co/GilpinLab/panda/blob/main/training_info.json" TargetMode="External"/></ns0:Relationships>
</file>

<file path=ppt/slides/panda_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8DCFD634-0122-423B-B4CF-3273A93B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Panda forecasting architecture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648AE7E7-47F5-43B6-BCEB-D90F763D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A6CA6433-13E0-476A-80F2-759E4EF9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Base forecast checkpoint: GilpinLab/panda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C167B023-BA39-4768-B359-B6020E92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Input and patching</a:t>
            </a:r>
          </a:p>
        </p:txBody>
      </p:sp>
      <p:sp>
        <p:nvSpPr>
          <p:cNvPr id="5" name="Input description">
            <a:extLst xmlns:a="http://schemas.openxmlformats.org/drawingml/2006/main">
              <a:ext uri="{FF2B5EF4-FFF2-40B4-BE49-F238E27FC236}">
                <a16:creationId xmlns:a16="http://schemas.microsoft.com/office/drawing/2014/main" id="{9A2DCE6E-EDA7-46BC-8CDE-82B2388E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5143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512 past values per observed channel.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Length-16 patches with stride 16 give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32 tokens per channel.</a:t>
            </a:r>
          </a:p>
        </p:txBody>
      </p:sp>
      <p:sp>
        <p:nvSpPr>
          <p:cNvPr id="6" name="Encoder">
            <a:extLst xmlns:a="http://schemas.openxmlformats.org/drawingml/2006/main">
              <a:ext uri="{FF2B5EF4-FFF2-40B4-BE49-F238E27FC236}">
                <a16:creationId xmlns:a16="http://schemas.microsoft.com/office/drawing/2014/main" id="{25741A0D-475E-495F-8D6E-7D0F2150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Encoder and forecast head</a:t>
            </a:r>
          </a:p>
        </p:txBody>
      </p:sp>
      <p:sp>
        <p:nvSpPr>
          <p:cNvPr id="7" name="Encoder description">
            <a:extLst xmlns:a="http://schemas.openxmlformats.org/drawingml/2006/main">
              <a:ext uri="{FF2B5EF4-FFF2-40B4-BE49-F238E27FC236}">
                <a16:creationId xmlns:a16="http://schemas.microsoft.com/office/drawing/2014/main" id="{5B4582B9-97C3-4B15-9A2F-33E9AB46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8 encoder blocks, hidden width 512,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8 attention heads. Mean pooling over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patches and a linear head output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128 future values per channel.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99CE9-3E4B-4495-BF42-881CD5B222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3387c2d794bb3"/>
          <a:stretch xmlns:a="http://schemas.openxmlformats.org/drawingml/2006/main"/>
        </p:blipFill>
        <p:spPr>
          <a:xfrm xmlns:a="http://schemas.openxmlformats.org/drawingml/2006/main">
            <a:off x="6593773" y="1762125"/>
            <a:ext cx="4433704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Visible source citations"/>
          <p:cNvSpPr/>
          <p:nvPr/>
        </p:nvSpPr>
        <p:spPr>
          <ns0:xfrm xmlns:ns0="http://schemas.openxmlformats.org/drawingml/2006/main">
            <ns0:off x="571500" y="6562725"/>
            <ns0:ext cx="10477500" cy="219075"/>
          </ns0:xfrm>
          <ns1:noFill xmlns:ns1="http://schemas.openxmlformats.org/drawingml/2006/main"/>
        </p:spPr>
        <p:txBody>
          <ns2:bodyPr xmlns:ns2="http://schemas.openxmlformats.org/drawingml/2006/main" lIns="0" rIns="0" tIns="0" bIns="0" wrap="none"/>
          <ns3:lstStyle xmlns:ns3="http://schemas.openxmlformats.org/drawingml/2006/main"/>
          <ns4:p xmlns:ns4="http://schemas.openxmlformats.org/drawingml/2006/main">
            <ns4:pPr marL="0" indent="0"/>
            <ns4:r>
              <ns4:rPr sz="1000" u="sng">
                <ns4:solidFill>
                  <ns4:srgbClr val="526477"/>
                </ns4:solidFill>
                <ns4:latin typeface="Arial"/>
                <ns4:hlinkClick xmlns:ns5="http://schemas.openxmlformats.org/officeDocument/2006/relationships" ns5:id="rIdVisibleSource1"/>
              </ns4:rPr>
              <ns4:t>Lai, Bao &amp; Gilpin (ICLR 2026), Fig. 1 and App. B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6="http://schemas.openxmlformats.org/officeDocument/2006/relationships" ns6:id="rIdVisibleSource2"/>
              </ns4:rPr>
              <ns4:t>GitHub: architecture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7="http://schemas.openxmlformats.org/officeDocument/2006/relationships" ns7:id="rIdVisibleSource3"/>
              </ns4:rPr>
              <ns4:t>HF: forecast checkpoint</ns4:t>
            </ns4:r>
          </ns4:p>
        </p:txBody>
      </p:sp>
    </p:spTree>
    <p:extLst>
      <p:ext uri="{BB962C8B-B14F-4D97-AF65-F5344CB8AC3E}">
        <p14:creationId xmlns:p14="http://schemas.microsoft.com/office/powerpoint/2010/main" val="1202633232"/>
      </p:ext>
    </p:extLst>
  </p:cSld>
</p:sld>
</file>

<file path=ppt/slides/panda_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61E8B234-1B62-407B-87C5-D46187D4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Temporal and channel attention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3B9730C0-4065-445E-8DCC-E5CEB1B3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507F7E0C-306E-4CF9-B95C-6261309E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Hidden state in each block: C channels × 32 patches × 512 features</a:t>
            </a:r>
          </a:p>
        </p:txBody>
      </p:sp>
      <p:sp>
        <p:nvSpPr>
          <p:cNvPr id="4" name="Temporal attention">
            <a:extLst xmlns:a="http://schemas.openxmlformats.org/drawingml/2006/main">
              <a:ext uri="{FF2B5EF4-FFF2-40B4-BE49-F238E27FC236}">
                <a16:creationId xmlns:a16="http://schemas.microsoft.com/office/drawing/2014/main" id="{1BC52B2D-C1CE-497A-8BB1-C57D56C6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Temporal attention</a:t>
            </a:r>
          </a:p>
        </p:txBody>
      </p:sp>
      <p:sp>
        <p:nvSpPr>
          <p:cNvPr id="5" name="Temporal attention detail">
            <a:extLst xmlns:a="http://schemas.openxmlformats.org/drawingml/2006/main">
              <a:ext uri="{FF2B5EF4-FFF2-40B4-BE49-F238E27FC236}">
                <a16:creationId xmlns:a16="http://schemas.microsoft.com/office/drawing/2014/main" id="{25779092-0451-4817-BEC5-F1C22954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Each channel attends across its 32 patches.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Partial rotary position encoding (p-RoPE) encodes temporal order.</a:t>
            </a:r>
          </a:p>
        </p:txBody>
      </p:sp>
      <p:sp>
        <p:nvSpPr>
          <p:cNvPr id="6" name="Channel attention">
            <a:extLst xmlns:a="http://schemas.openxmlformats.org/drawingml/2006/main">
              <a:ext uri="{FF2B5EF4-FFF2-40B4-BE49-F238E27FC236}">
                <a16:creationId xmlns:a16="http://schemas.microsoft.com/office/drawing/2014/main" id="{E2873593-6CEF-442D-B9F0-1449D543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Channel attention</a:t>
            </a:r>
          </a:p>
        </p:txBody>
      </p:sp>
      <p:sp>
        <p:nvSpPr>
          <p:cNvPr id="7" name="Channel attention detail">
            <a:extLst xmlns:a="http://schemas.openxmlformats.org/drawingml/2006/main">
              <a:ext uri="{FF2B5EF4-FFF2-40B4-BE49-F238E27FC236}">
                <a16:creationId xmlns:a16="http://schemas.microsoft.com/office/drawing/2014/main" id="{D2A5CEB2-E36A-48E5-8BE7-5F071356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At each patch position, attention mixes the observed channels.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Shared weights allow different channel counts at inference.</a:t>
            </a:r>
          </a:p>
        </p:txBody>
      </p:sp>
      <p:sp>
        <p:nvSpPr>
          <p:cNvPr id="8" name="Feed-forward layer">
            <a:extLst xmlns:a="http://schemas.openxmlformats.org/drawingml/2006/main">
              <a:ext uri="{FF2B5EF4-FFF2-40B4-BE49-F238E27FC236}">
                <a16:creationId xmlns:a16="http://schemas.microsoft.com/office/drawing/2014/main" id="{E913814D-6D1E-47FB-BFA7-B889B5DF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Feed-forward layer</a:t>
            </a:r>
          </a:p>
        </p:txBody>
      </p:sp>
      <p:sp>
        <p:nvSpPr>
          <p:cNvPr id="9" name="Feed-forward layer detail">
            <a:extLst xmlns:a="http://schemas.openxmlformats.org/drawingml/2006/main">
              <a:ext uri="{FF2B5EF4-FFF2-40B4-BE49-F238E27FC236}">
                <a16:creationId xmlns:a16="http://schemas.microsoft.com/office/drawing/2014/main" id="{8B527FB1-FDE2-45BC-BBD7-58BF8ED7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76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A nonlinear feed-forward network transforms each token.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RMSNorm and residual connections surround the sublayers.</a:t>
            </a:r>
          </a:p>
        </p:txBody>
      </p:sp>
      <p:sp>
        <p:nvSpPr>
          <p:cNvPr id="11" name="Visible source citations"/>
          <p:cNvSpPr/>
          <p:nvPr/>
        </p:nvSpPr>
        <p:spPr>
          <ns0:xfrm xmlns:ns0="http://schemas.openxmlformats.org/drawingml/2006/main">
            <ns0:off x="571500" y="6562725"/>
            <ns0:ext cx="10477500" cy="219075"/>
          </ns0:xfrm>
          <ns1:noFill xmlns:ns1="http://schemas.openxmlformats.org/drawingml/2006/main"/>
        </p:spPr>
        <p:txBody>
          <ns2:bodyPr xmlns:ns2="http://schemas.openxmlformats.org/drawingml/2006/main" lIns="0" rIns="0" tIns="0" bIns="0" wrap="none"/>
          <ns3:lstStyle xmlns:ns3="http://schemas.openxmlformats.org/drawingml/2006/main"/>
          <ns4:p xmlns:ns4="http://schemas.openxmlformats.org/drawingml/2006/main">
            <ns4:pPr marL="0" indent="0"/>
            <ns4:r>
              <ns4:rPr sz="1000" u="sng">
                <ns4:solidFill>
                  <ns4:srgbClr val="526477"/>
                </ns4:solidFill>
                <ns4:latin typeface="Arial"/>
                <ns4:hlinkClick xmlns:ns5="http://schemas.openxmlformats.org/officeDocument/2006/relationships" ns5:id="rIdVisibleSource1"/>
              </ns4:rPr>
              <ns4:t>Lai, Bao &amp; Gilpin (ICLR 2026), §4 and App. B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6="http://schemas.openxmlformats.org/officeDocument/2006/relationships" ns6:id="rIdVisibleSource2"/>
              </ns4:rPr>
              <ns4:t>GitHub: attention implementation</ns4:t>
            </ns4:r>
          </ns4:p>
        </p:txBody>
      </p:sp>
    </p:spTree>
    <p:extLst>
      <p:ext uri="{BB962C8B-B14F-4D97-AF65-F5344CB8AC3E}">
        <p14:creationId xmlns:p14="http://schemas.microsoft.com/office/powerpoint/2010/main" val="826833554"/>
      </p:ext>
    </p:extLst>
  </p:cSld>
</p:sld>
</file>

<file path=ppt/slides/panda_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4AAA244-B890-4404-99AD-5A16DE48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Feature initialization and reuse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C8A3E2A1-B84D-4165-86E3-DC3FF5C4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10" name="Visible source citations"/>
          <p:cNvSpPr/>
          <p:nvPr/>
        </p:nvSpPr>
        <p:spPr>
          <ns0:xfrm xmlns:ns0="http://schemas.openxmlformats.org/drawingml/2006/main">
            <ns0:off x="571500" y="6562725"/>
            <ns0:ext cx="10477500" cy="219075"/>
          </ns0:xfrm>
          <ns1:noFill xmlns:ns1="http://schemas.openxmlformats.org/drawingml/2006/main"/>
        </p:spPr>
        <p:txBody>
          <ns2:bodyPr xmlns:ns2="http://schemas.openxmlformats.org/drawingml/2006/main" lIns="0" rIns="0" tIns="0" bIns="0" wrap="none"/>
          <ns3:lstStyle xmlns:ns3="http://schemas.openxmlformats.org/drawingml/2006/main"/>
          <ns4:p xmlns:ns4="http://schemas.openxmlformats.org/drawingml/2006/main">
            <ns4:pPr marL="0" indent="0"/>
            <ns4:r>
              <ns4:rPr sz="1000" u="sng">
                <ns4:solidFill>
                  <ns4:srgbClr val="526477"/>
                </ns4:solidFill>
                <ns4:latin typeface="Arial"/>
                <ns4:hlinkClick xmlns:ns5="http://schemas.openxmlformats.org/officeDocument/2006/relationships" ns5:id="rIdVisibleSource1"/>
              </ns4:rPr>
              <ns4:t>Lai, Bao &amp; Gilpin (ICLR 2026), §4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6="http://schemas.openxmlformats.org/officeDocument/2006/relationships" ns6:id="rIdVisibleSource2"/>
              </ns4:rPr>
              <ns4:t>GitHub: feature initialization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7="http://schemas.openxmlformats.org/officeDocument/2006/relationships" ns7:id="rIdVisibleSource3"/>
              </ns4:rPr>
              <ns4:t>HF: rff_trainable = false</ns4:t>
            </ns4:r>
          </ns4:p>
        </p:txBody>
      </p:sp>
      <p:sp>
        <p:nvSpPr>
          <p:cNvPr id="100" name="Seeded initialization">
            <a:extLst xmlns:a="http://schemas.openxmlformats.org/drawingml/2006/main">
              <a:ext uri="{FF2B5EF4-FFF2-40B4-BE49-F238E27FC236}">
                <a16:creationId xmlns:a16="http://schemas.microsoft.com/office/drawing/2014/main" id="{CA4024FA-7EE5-4DF7-BC2A-142763A6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007D80"/>
                </a:solidFill>
              </a:defRPr>
            </a:defPPr>
            <a:lvl1pPr>
              <a:defRPr sz="2175" b="1">
                <a:solidFill>
                  <a:srgbClr val="007D80"/>
                </a:solidFill>
              </a:defRPr>
            </a:lvl1pPr>
            <a:lvl2pPr>
              <a:defRPr sz="2175" b="1">
                <a:solidFill>
                  <a:srgbClr val="007D80"/>
                </a:solidFill>
              </a:defRPr>
            </a:lvl2pPr>
            <a:lvl3pPr>
              <a:defRPr sz="2175" b="1">
                <a:solidFill>
                  <a:srgbClr val="007D80"/>
                </a:solidFill>
              </a:defRPr>
            </a:lvl3pPr>
            <a:lvl4pPr>
              <a:defRPr sz="2175" b="1">
                <a:solidFill>
                  <a:srgbClr val="007D80"/>
                </a:solidFill>
              </a:defRPr>
            </a:lvl4pPr>
            <a:lvl5pPr>
              <a:defRPr sz="2175" b="1">
                <a:solidFill>
                  <a:srgbClr val="007D80"/>
                </a:solidFill>
              </a:defRPr>
            </a:lvl5pPr>
            <a:lvl6pPr>
              <a:defRPr sz="2175" b="1">
                <a:solidFill>
                  <a:srgbClr val="007D80"/>
                </a:solidFill>
              </a:defRPr>
            </a:lvl6pPr>
            <a:lvl7pPr>
              <a:defRPr sz="2175" b="1">
                <a:solidFill>
                  <a:srgbClr val="007D80"/>
                </a:solidFill>
              </a:defRPr>
            </a:lvl7pPr>
            <a:lvl8pPr>
              <a:defRPr sz="2175" b="1">
                <a:solidFill>
                  <a:srgbClr val="007D80"/>
                </a:solidFill>
              </a:defRPr>
            </a:lvl8pPr>
            <a:lvl9pPr>
              <a:defRPr sz="2175" b="1">
                <a:solidFill>
                  <a:srgbClr val="007D80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D80"/>
                </a:solidFill>
              </a:defRPr>
            </a:pPr>
            <a:r>
              <a:rPr sz="2175" b="1">
                <a:solidFill>
                  <a:srgbClr val="007D80"/>
                </a:solidFill>
              </a:rPr>
              <a:t>Seeded model initialization</a:t>
            </a:r>
          </a:p>
        </p:txBody>
      </p:sp>
      <p:sp>
        <p:nvSpPr>
          <p:cNvPr id="101" name="Seed explanation">
            <a:extLst xmlns:a="http://schemas.openxmlformats.org/drawingml/2006/main">
              <a:ext uri="{FF2B5EF4-FFF2-40B4-BE49-F238E27FC236}">
                <a16:creationId xmlns:a16="http://schemas.microsoft.com/office/drawing/2014/main" id="{00B8AB70-BC62-4C60-95DB-31E3345C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52B43"/>
                </a:solidFill>
              </a:defRPr>
            </a:defPPr>
            <a:lvl1pPr>
              <a:defRPr sz="1875" b="0">
                <a:solidFill>
                  <a:srgbClr val="152B43"/>
                </a:solidFill>
              </a:defRPr>
            </a:lvl1pPr>
            <a:lvl2pPr>
              <a:defRPr sz="1875" b="0">
                <a:solidFill>
                  <a:srgbClr val="152B43"/>
                </a:solidFill>
              </a:defRPr>
            </a:lvl2pPr>
            <a:lvl3pPr>
              <a:defRPr sz="1875" b="0">
                <a:solidFill>
                  <a:srgbClr val="152B43"/>
                </a:solidFill>
              </a:defRPr>
            </a:lvl3pPr>
            <a:lvl4pPr>
              <a:defRPr sz="1875" b="0">
                <a:solidFill>
                  <a:srgbClr val="152B43"/>
                </a:solidFill>
              </a:defRPr>
            </a:lvl4pPr>
            <a:lvl5pPr>
              <a:defRPr sz="1875" b="0">
                <a:solidFill>
                  <a:srgbClr val="152B43"/>
                </a:solidFill>
              </a:defRPr>
            </a:lvl5pPr>
            <a:lvl6pPr>
              <a:defRPr sz="1875" b="0">
                <a:solidFill>
                  <a:srgbClr val="152B43"/>
                </a:solidFill>
              </a:defRPr>
            </a:lvl6pPr>
            <a:lvl7pPr>
              <a:defRPr sz="1875" b="0">
                <a:solidFill>
                  <a:srgbClr val="152B43"/>
                </a:solidFill>
              </a:defRPr>
            </a:lvl7pPr>
            <a:lvl8pPr>
              <a:defRPr sz="1875" b="0">
                <a:solidFill>
                  <a:srgbClr val="152B43"/>
                </a:solidFill>
              </a:defRPr>
            </a:lvl8pPr>
            <a:lvl9pPr>
              <a:defRPr sz="1875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</a:defRPr>
            </a:pPr>
            <a:r>
              <a:rPr sz="1875" b="0">
                <a:solidFill>
                  <a:srgbClr val="152B43"/>
                </a:solidFill>
              </a:rPr>
              <a:t>A random seed controls initialization of polynomial indices, Fourier W and b, and other weights.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</a:defRPr>
            </a:pPr>
            <a:r>
              <a:rPr sz="1875" b="0">
                <a:solidFill>
                  <a:srgbClr val="152B43"/>
                </a:solidFill>
              </a:rPr>
              <a:t>Each model draws 120 index pairs and 120 triples over 16 positions, allowing repeats.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</a:defRPr>
            </a:pPr>
            <a:r>
              <a:rPr sz="1875" b="0">
                <a:solidFill>
                  <a:srgbClr val="152B43"/>
                </a:solidFill>
              </a:rPr>
              <a:t>W and b use standard-normal draws. All patches and channels reuse these features.</a:t>
            </a:r>
          </a:p>
        </p:txBody>
      </p:sp>
      <p:sp>
        <p:nvSpPr>
          <p:cNvPr id="102" name="Checkpoint heading">
            <a:extLst xmlns:a="http://schemas.openxmlformats.org/drawingml/2006/main">
              <a:ext uri="{FF2B5EF4-FFF2-40B4-BE49-F238E27FC236}">
                <a16:creationId xmlns:a16="http://schemas.microsoft.com/office/drawing/2014/main" id="{27A11214-C47C-43B5-B08B-0101B529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007D80"/>
                </a:solidFill>
              </a:defRPr>
            </a:defPPr>
            <a:lvl1pPr>
              <a:defRPr sz="2175" b="1">
                <a:solidFill>
                  <a:srgbClr val="007D80"/>
                </a:solidFill>
              </a:defRPr>
            </a:lvl1pPr>
            <a:lvl2pPr>
              <a:defRPr sz="2175" b="1">
                <a:solidFill>
                  <a:srgbClr val="007D80"/>
                </a:solidFill>
              </a:defRPr>
            </a:lvl2pPr>
            <a:lvl3pPr>
              <a:defRPr sz="2175" b="1">
                <a:solidFill>
                  <a:srgbClr val="007D80"/>
                </a:solidFill>
              </a:defRPr>
            </a:lvl3pPr>
            <a:lvl4pPr>
              <a:defRPr sz="2175" b="1">
                <a:solidFill>
                  <a:srgbClr val="007D80"/>
                </a:solidFill>
              </a:defRPr>
            </a:lvl4pPr>
            <a:lvl5pPr>
              <a:defRPr sz="2175" b="1">
                <a:solidFill>
                  <a:srgbClr val="007D80"/>
                </a:solidFill>
              </a:defRPr>
            </a:lvl5pPr>
            <a:lvl6pPr>
              <a:defRPr sz="2175" b="1">
                <a:solidFill>
                  <a:srgbClr val="007D80"/>
                </a:solidFill>
              </a:defRPr>
            </a:lvl6pPr>
            <a:lvl7pPr>
              <a:defRPr sz="2175" b="1">
                <a:solidFill>
                  <a:srgbClr val="007D80"/>
                </a:solidFill>
              </a:defRPr>
            </a:lvl7pPr>
            <a:lvl8pPr>
              <a:defRPr sz="2175" b="1">
                <a:solidFill>
                  <a:srgbClr val="007D80"/>
                </a:solidFill>
              </a:defRPr>
            </a:lvl8pPr>
            <a:lvl9pPr>
              <a:defRPr sz="2175" b="1">
                <a:solidFill>
                  <a:srgbClr val="007D80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D80"/>
                </a:solidFill>
              </a:defRPr>
            </a:pPr>
            <a:r>
              <a:rPr sz="2175" b="1">
                <a:solidFill>
                  <a:srgbClr val="007D80"/>
                </a:solidFill>
              </a:rPr>
              <a:t>Loading a pretrained checkpoint</a:t>
            </a:r>
          </a:p>
        </p:txBody>
      </p:sp>
      <p:sp>
        <p:nvSpPr>
          <p:cNvPr id="103" name="Checkpoint explanation">
            <a:extLst xmlns:a="http://schemas.openxmlformats.org/drawingml/2006/main">
              <a:ext uri="{FF2B5EF4-FFF2-40B4-BE49-F238E27FC236}">
                <a16:creationId xmlns:a16="http://schemas.microsoft.com/office/drawing/2014/main" id="{63614744-6849-490D-84D9-172FC562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52B43"/>
                </a:solidFill>
              </a:defRPr>
            </a:defPPr>
            <a:lvl1pPr>
              <a:defRPr sz="1875" b="0">
                <a:solidFill>
                  <a:srgbClr val="152B43"/>
                </a:solidFill>
              </a:defRPr>
            </a:lvl1pPr>
            <a:lvl2pPr>
              <a:defRPr sz="1875" b="0">
                <a:solidFill>
                  <a:srgbClr val="152B43"/>
                </a:solidFill>
              </a:defRPr>
            </a:lvl2pPr>
            <a:lvl3pPr>
              <a:defRPr sz="1875" b="0">
                <a:solidFill>
                  <a:srgbClr val="152B43"/>
                </a:solidFill>
              </a:defRPr>
            </a:lvl3pPr>
            <a:lvl4pPr>
              <a:defRPr sz="1875" b="0">
                <a:solidFill>
                  <a:srgbClr val="152B43"/>
                </a:solidFill>
              </a:defRPr>
            </a:lvl4pPr>
            <a:lvl5pPr>
              <a:defRPr sz="1875" b="0">
                <a:solidFill>
                  <a:srgbClr val="152B43"/>
                </a:solidFill>
              </a:defRPr>
            </a:lvl5pPr>
            <a:lvl6pPr>
              <a:defRPr sz="1875" b="0">
                <a:solidFill>
                  <a:srgbClr val="152B43"/>
                </a:solidFill>
              </a:defRPr>
            </a:lvl6pPr>
            <a:lvl7pPr>
              <a:defRPr sz="1875" b="0">
                <a:solidFill>
                  <a:srgbClr val="152B43"/>
                </a:solidFill>
              </a:defRPr>
            </a:lvl7pPr>
            <a:lvl8pPr>
              <a:defRPr sz="1875" b="0">
                <a:solidFill>
                  <a:srgbClr val="152B43"/>
                </a:solidFill>
              </a:defRPr>
            </a:lvl8pPr>
            <a:lvl9pPr>
              <a:defRPr sz="1875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</a:defRPr>
            </a:pPr>
            <a:r>
              <a:rPr sz="1875" b="0">
                <a:solidFill>
                  <a:srgbClr val="152B43"/>
                </a:solidFill>
              </a:rPr>
              <a:t>The model first constructs its features and weights using seeded random initialization.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</a:defRPr>
            </a:pPr>
            <a:r>
              <a:rPr sz="1875" b="0">
                <a:solidFill>
                  <a:srgbClr val="152B43"/>
                </a:solidFill>
              </a:rPr>
              <a:t>Checkpoint values then overwrite saved parameters, including W and b and linear weights.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</a:defRPr>
            </a:pPr>
            <a:r>
              <a:rPr sz="1875" b="0">
                <a:solidFill>
                  <a:srgbClr val="152B43"/>
                </a:solidFill>
              </a:rPr>
              <a:t>Restored Fourier parameters therefore do not depend on the loading seed.</a:t>
            </a:r>
          </a:p>
        </p:txBody>
      </p:sp>
      <p:sp>
        <p:nvSpPr>
          <p:cNvPr id="104" name="Missing mapping heading">
            <a:extLst xmlns:a="http://schemas.openxmlformats.org/drawingml/2006/main">
              <a:ext uri="{FF2B5EF4-FFF2-40B4-BE49-F238E27FC236}">
                <a16:creationId xmlns:a16="http://schemas.microsoft.com/office/drawing/2014/main" id="{39ABFC77-509E-42D1-85EF-D8273E8D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720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007D80"/>
                </a:solidFill>
              </a:defRPr>
            </a:defPPr>
            <a:lvl1pPr>
              <a:defRPr sz="2175" b="1">
                <a:solidFill>
                  <a:srgbClr val="007D80"/>
                </a:solidFill>
              </a:defRPr>
            </a:lvl1pPr>
            <a:lvl2pPr>
              <a:defRPr sz="2175" b="1">
                <a:solidFill>
                  <a:srgbClr val="007D80"/>
                </a:solidFill>
              </a:defRPr>
            </a:lvl2pPr>
            <a:lvl3pPr>
              <a:defRPr sz="2175" b="1">
                <a:solidFill>
                  <a:srgbClr val="007D80"/>
                </a:solidFill>
              </a:defRPr>
            </a:lvl3pPr>
            <a:lvl4pPr>
              <a:defRPr sz="2175" b="1">
                <a:solidFill>
                  <a:srgbClr val="007D80"/>
                </a:solidFill>
              </a:defRPr>
            </a:lvl4pPr>
            <a:lvl5pPr>
              <a:defRPr sz="2175" b="1">
                <a:solidFill>
                  <a:srgbClr val="007D80"/>
                </a:solidFill>
              </a:defRPr>
            </a:lvl5pPr>
            <a:lvl6pPr>
              <a:defRPr sz="2175" b="1">
                <a:solidFill>
                  <a:srgbClr val="007D80"/>
                </a:solidFill>
              </a:defRPr>
            </a:lvl6pPr>
            <a:lvl7pPr>
              <a:defRPr sz="2175" b="1">
                <a:solidFill>
                  <a:srgbClr val="007D80"/>
                </a:solidFill>
              </a:defRPr>
            </a:lvl7pPr>
            <a:lvl8pPr>
              <a:defRPr sz="2175" b="1">
                <a:solidFill>
                  <a:srgbClr val="007D80"/>
                </a:solidFill>
              </a:defRPr>
            </a:lvl8pPr>
            <a:lvl9pPr>
              <a:defRPr sz="2175" b="1">
                <a:solidFill>
                  <a:srgbClr val="007D80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D80"/>
                </a:solidFill>
              </a:defRPr>
            </a:pPr>
            <a:r>
              <a:rPr sz="2175" b="1">
                <a:solidFill>
                  <a:srgbClr val="007D80"/>
                </a:solidFill>
              </a:rPr>
              <a:t>Missing polynomial mapping</a:t>
            </a:r>
          </a:p>
        </p:txBody>
      </p:sp>
      <p:sp>
        <p:nvSpPr>
          <p:cNvPr id="105" name="Missing mapping explanation">
            <a:extLst xmlns:a="http://schemas.openxmlformats.org/drawingml/2006/main">
              <a:ext uri="{FF2B5EF4-FFF2-40B4-BE49-F238E27FC236}">
                <a16:creationId xmlns:a16="http://schemas.microsoft.com/office/drawing/2014/main" id="{58844281-C4E0-4E9B-8A6F-F5B75E83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52B43"/>
                </a:solidFill>
              </a:defRPr>
            </a:defPPr>
            <a:lvl1pPr>
              <a:defRPr sz="1875" b="0">
                <a:solidFill>
                  <a:srgbClr val="152B43"/>
                </a:solidFill>
              </a:defRPr>
            </a:lvl1pPr>
            <a:lvl2pPr>
              <a:defRPr sz="1875" b="0">
                <a:solidFill>
                  <a:srgbClr val="152B43"/>
                </a:solidFill>
              </a:defRPr>
            </a:lvl2pPr>
            <a:lvl3pPr>
              <a:defRPr sz="1875" b="0">
                <a:solidFill>
                  <a:srgbClr val="152B43"/>
                </a:solidFill>
              </a:defRPr>
            </a:lvl3pPr>
            <a:lvl4pPr>
              <a:defRPr sz="1875" b="0">
                <a:solidFill>
                  <a:srgbClr val="152B43"/>
                </a:solidFill>
              </a:defRPr>
            </a:lvl4pPr>
            <a:lvl5pPr>
              <a:defRPr sz="1875" b="0">
                <a:solidFill>
                  <a:srgbClr val="152B43"/>
                </a:solidFill>
              </a:defRPr>
            </a:lvl5pPr>
            <a:lvl6pPr>
              <a:defRPr sz="1875" b="0">
                <a:solidFill>
                  <a:srgbClr val="152B43"/>
                </a:solidFill>
              </a:defRPr>
            </a:lvl6pPr>
            <a:lvl7pPr>
              <a:defRPr sz="1875" b="0">
                <a:solidFill>
                  <a:srgbClr val="152B43"/>
                </a:solidFill>
              </a:defRPr>
            </a:lvl7pPr>
            <a:lvl8pPr>
              <a:defRPr sz="1875" b="0">
                <a:solidFill>
                  <a:srgbClr val="152B43"/>
                </a:solidFill>
              </a:defRPr>
            </a:lvl8pPr>
            <a:lvl9pPr>
              <a:defRPr sz="1875" b="0">
                <a:solidFill>
                  <a:srgbClr val="152B43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</a:defRPr>
            </a:pPr>
            <a:r>
              <a:rPr sz="1875" b="0">
                <a:solidFill>
                  <a:srgbClr val="152B43"/>
                </a:solidFill>
              </a:rPr>
              <a:t>Upstream checkpoints omit the polynomial indices, so the new random mapping remains.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</a:defRPr>
            </a:pPr>
            <a:r>
              <a:rPr sz="1875" b="0">
                <a:solidFill>
                  <a:srgbClr val="152B43"/>
                </a:solidFill>
              </a:rPr>
              <a:t>The next slide explains the resulting reproducibility issue and our JSON workaround.</a:t>
            </a:r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41" name="Native Fourier annotation 1"/>
              <p:cNvSpPr>
                <a:spLocks noGrp="1"/>
              </p:cNvSpPr>
              <p:nvPr/>
            </p:nvSpPr>
            <p:spPr>
              <a:xfrm>
                <a:off x="571500" y="2838450"/>
                <a:ext cx="2381250" cy="6096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i"/>
                        </m:rP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z</m:t>
                      </m:r>
                      <m:r>
                        <m:rPr>
                          <m:sty m:val="p"/>
                        </m:rP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i"/>
                        </m:rP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x</m:t>
                      </m:r>
                      <m:r>
                        <m:rPr>
                          <m:sty m:val="i"/>
                        </m:rP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i"/>
                        </m:rP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b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1" name="Native Fourier annotation 1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2838450"/>
                <a:ext cx="2381250" cy="609600"/>
              </a:xfrm>
              <a:prstGeom prst="rect">
                <a:avLst/>
              </a:prstGeom>
              <a:blipFill>
                <a:blip r:embed="rIdFourierMath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pPr algn="l"/>
                <a:r>
                  <a:rPr sz="2400">
                    <a:solidFill>
                      <a:srgbClr val="152B43"/>
                    </a:solidFill>
                    <a:latin typeface="Cambria Math"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42" name="Native Fourier annotation 2"/>
              <p:cNvSpPr>
                <a:spLocks noGrp="1"/>
              </p:cNvSpPr>
              <p:nvPr/>
            </p:nvSpPr>
            <p:spPr>
              <a:xfrm>
                <a:off x="3143250" y="2838450"/>
                <a:ext cx="2286000" cy="6096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𝑊∈</m:t>
                      </m:r>
                      <m:sSup>
                        <m:sSupPr>
                          <m:ctrl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16×128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42" name="Native Fourier annotation 2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50" y="2838450"/>
                <a:ext cx="2286000" cy="609600"/>
              </a:xfrm>
              <a:prstGeom prst="rect">
                <a:avLst/>
              </a:prstGeom>
              <a:blipFill>
                <a:blip r:embed="rIdFourierMath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pPr algn="l"/>
                <a:r>
                  <a:rPr sz="2400">
                    <a:solidFill>
                      <a:srgbClr val="152B43"/>
                    </a:solidFill>
                    <a:latin typeface="Cambria Math"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43" name="Native Fourier annotation 3"/>
              <p:cNvSpPr>
                <a:spLocks noGrp="1"/>
              </p:cNvSpPr>
              <p:nvPr/>
            </p:nvSpPr>
            <p:spPr>
              <a:xfrm>
                <a:off x="5715000" y="2838450"/>
                <a:ext cx="1714500" cy="6096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𝑏∈</m:t>
                      </m:r>
                      <m:sSup>
                        <m:sSupPr>
                          <m:ctrl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128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43" name="Native Fourier annotation 3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2838450"/>
                <a:ext cx="1714500" cy="609600"/>
              </a:xfrm>
              <a:prstGeom prst="rect">
                <a:avLst/>
              </a:prstGeom>
              <a:blipFill>
                <a:blip r:embed="rIdFourierMath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pPr algn="l"/>
                <a:r>
                  <a:rPr sz="2400">
                    <a:solidFill>
                      <a:srgbClr val="152B43"/>
                    </a:solidFill>
                    <a:latin typeface="Cambria Math"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44" name="Native Fourier annotation 4"/>
              <p:cNvSpPr>
                <a:spLocks noGrp="1"/>
              </p:cNvSpPr>
              <p:nvPr/>
            </p:nvSpPr>
            <p:spPr>
              <a:xfrm>
                <a:off x="7620000" y="2838450"/>
                <a:ext cx="4000500" cy="6096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[sin(</m:t>
                      </m:r>
                      <m: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𝑧</m:t>
                      </m:r>
                      <m:r>
                        <m:rPr>
                          <m:sty m:val="p"/>
                        </m:rP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),cos(</m:t>
                      </m:r>
                      <m: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𝑧</m:t>
                      </m:r>
                      <m:r>
                        <m:rPr>
                          <m:sty m:val="p"/>
                        </m:rP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)]∈</m:t>
                      </m:r>
                      <m:sSup>
                        <m:sSupPr>
                          <m:ctrl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256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44" name="Native Fourier annotation 4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2838450"/>
                <a:ext cx="4000500" cy="609600"/>
              </a:xfrm>
              <a:prstGeom prst="rect">
                <a:avLst/>
              </a:prstGeom>
              <a:blipFill>
                <a:blip r:embed="rIdFourierMath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pPr algn="l"/>
                <a:r>
                  <a:rPr sz="2400">
                    <a:solidFill>
                      <a:srgbClr val="152B43"/>
                    </a:solidFill>
                    <a:latin typeface="Cambria Math"/>
                  </a:rPr>
                  <a:t> 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6890825"/>
      </p:ext>
    </p:extLst>
  </p:cSld>
</p:sld>
</file>

<file path=ppt/slides/panda_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5A19A3D-F924-471C-93C2-78FE8F0E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Panda pretraining for direct forecasting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248CB89A-3C6C-4759-8572-97729161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Task">
            <a:extLst xmlns:a="http://schemas.openxmlformats.org/drawingml/2006/main">
              <a:ext uri="{FF2B5EF4-FFF2-40B4-BE49-F238E27FC236}">
                <a16:creationId xmlns:a16="http://schemas.microsoft.com/office/drawing/2014/main" id="{C559C083-A3BF-44CF-A66B-F5751F10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512 history samples, 128 future target samples</a:t>
            </a:r>
          </a:p>
        </p:txBody>
      </p:sp>
      <p:sp>
        <p:nvSpPr>
          <p:cNvPr id="4" name="Task detail">
            <a:extLst xmlns:a="http://schemas.openxmlformats.org/drawingml/2006/main">
              <a:ext uri="{FF2B5EF4-FFF2-40B4-BE49-F238E27FC236}">
                <a16:creationId xmlns:a16="http://schemas.microsoft.com/office/drawing/2014/main" id="{E90F90C7-4AE1-49ED-89A9-4DCD4B90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The forecast head predicts all 128 samples directly in one forward pass.</a:t>
            </a:r>
          </a:p>
          <a:p xmlns:a="http://schemas.openxmlformats.org/drawingml/2006/main">
            <a: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Training minimizes MSE between the forecast and the future trajectory.</a:t>
            </a:r>
          </a:p>
        </p:txBody>
      </p:sp>
      <p:sp>
        <p:nvSpPr>
          <p:cNvPr id="5" name="Data heading">
            <a:extLst xmlns:a="http://schemas.openxmlformats.org/drawingml/2006/main">
              <a:ext uri="{FF2B5EF4-FFF2-40B4-BE49-F238E27FC236}">
                <a16:creationId xmlns:a16="http://schemas.microsoft.com/office/drawing/2014/main" id="{D60728E9-D555-402E-8569-3DBF30D6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384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Synthetic pretraining data</a:t>
            </a:r>
          </a:p>
        </p:txBody>
      </p:sp>
      <p:sp>
        <p:nvSpPr>
          <p:cNvPr id="6" name="Data body">
            <a:extLst xmlns:a="http://schemas.openxmlformats.org/drawingml/2006/main">
              <a:ext uri="{FF2B5EF4-FFF2-40B4-BE49-F238E27FC236}">
                <a16:creationId xmlns:a16="http://schemas.microsoft.com/office/drawing/2014/main" id="{254F5818-0476-42B8-B890-648BC80F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95675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About 20,000 synthetic chaotic ODE systems from evolutionary search.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Training samples 3 channels per trajectory and applies augmentations to 20%.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Inference can use all observed channels.</a:t>
            </a:r>
          </a:p>
        </p:txBody>
      </p:sp>
      <p:sp>
        <p:nvSpPr>
          <p:cNvPr id="7" name="Training detail">
            <a:extLst xmlns:a="http://schemas.openxmlformats.org/drawingml/2006/main">
              <a:ext uri="{FF2B5EF4-FFF2-40B4-BE49-F238E27FC236}">
                <a16:creationId xmlns:a16="http://schemas.microsoft.com/office/drawing/2014/main" id="{5E39CB31-AC72-470B-8F63-119B695B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Base forecast model: 100,000 iterations, AdamW, peak LR 10⁻³,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cosine schedule, 10% warmup, gradient clipping 1.0.</a:t>
            </a:r>
          </a:p>
        </p:txBody>
      </p:sp>
      <p:sp>
        <p:nvSpPr>
          <p:cNvPr id="8" name="Rollout">
            <a:extLst xmlns:a="http://schemas.openxmlformats.org/drawingml/2006/main">
              <a:ext uri="{FF2B5EF4-FFF2-40B4-BE49-F238E27FC236}">
                <a16:creationId xmlns:a16="http://schemas.microsoft.com/office/drawing/2014/main" id="{79F02C52-1B95-4AE0-80D2-6E5CC8C5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150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Longer forecasts concatenate blocks of 128 predicted samples autoregressively.</a:t>
            </a:r>
          </a:p>
        </p:txBody>
      </p:sp>
      <p:sp>
        <p:nvSpPr>
          <p:cNvPr id="10" name="Visible source citations"/>
          <p:cNvSpPr/>
          <p:nvPr/>
        </p:nvSpPr>
        <p:spPr>
          <ns0:xfrm xmlns:ns0="http://schemas.openxmlformats.org/drawingml/2006/main">
            <ns0:off x="571500" y="6562725"/>
            <ns0:ext cx="10477500" cy="219075"/>
          </ns0:xfrm>
          <ns1:noFill xmlns:ns1="http://schemas.openxmlformats.org/drawingml/2006/main"/>
        </p:spPr>
        <p:txBody>
          <ns2:bodyPr xmlns:ns2="http://schemas.openxmlformats.org/drawingml/2006/main" lIns="0" rIns="0" tIns="0" bIns="0" wrap="none"/>
          <ns3:lstStyle xmlns:ns3="http://schemas.openxmlformats.org/drawingml/2006/main"/>
          <ns4:p xmlns:ns4="http://schemas.openxmlformats.org/drawingml/2006/main">
            <ns4:pPr marL="0" indent="0"/>
            <ns4:r>
              <ns4:rPr sz="1000" u="sng">
                <ns4:solidFill>
                  <ns4:srgbClr val="526477"/>
                </ns4:solidFill>
                <ns4:latin typeface="Arial"/>
                <ns4:hlinkClick xmlns:ns5="http://schemas.openxmlformats.org/officeDocument/2006/relationships" ns5:id="rIdVisibleSource1"/>
              </ns4:rPr>
              <ns4:t>Lai, Bao &amp; Gilpin (ICLR 2026), §3, §5.1 and App. B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6="http://schemas.openxmlformats.org/officeDocument/2006/relationships" ns6:id="rIdVisibleSource2"/>
              </ns4:rPr>
              <ns4:t>GitHub: autoregressive rollout</ns4:t>
            </ns4:r>
          </ns4:p>
        </p:txBody>
      </p:sp>
    </p:spTree>
    <p:extLst>
      <p:ext uri="{BB962C8B-B14F-4D97-AF65-F5344CB8AC3E}">
        <p14:creationId xmlns:p14="http://schemas.microsoft.com/office/powerpoint/2010/main" val="2146807353"/>
      </p:ext>
    </p:extLst>
  </p:cSld>
</p:sld>
</file>

<file path=ppt/slides/project_opening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roject title">
            <a:extLst xmlns:a="http://schemas.openxmlformats.org/drawingml/2006/main">
              <a:ext uri="{FF2B5EF4-FFF2-40B4-BE49-F238E27FC236}">
                <a16:creationId xmlns:a16="http://schemas.microsoft.com/office/drawing/2014/main" id="{6FBA8CD5-5125-41F9-9BDE-0C2AAC7A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AI for Multiscale</a:t>
            </a:r>
          </a:p>
          <a:p xmlns:a="http://schemas.openxmlformats.org/drawingml/2006/main">
            <a:pPr>
              <a:defRPr sz="46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Dynamical Systems Forecasting</a:t>
            </a:r>
          </a:p>
        </p:txBody>
      </p:sp>
      <p:sp>
        <p:nvSpPr>
          <p:cNvPr id="2" name="Author">
            <a:extLst xmlns:a="http://schemas.openxmlformats.org/drawingml/2006/main">
              <a:ext uri="{FF2B5EF4-FFF2-40B4-BE49-F238E27FC236}">
                <a16:creationId xmlns:a16="http://schemas.microsoft.com/office/drawing/2014/main" id="{F0952915-ADFF-4A26-A2ED-25B595A9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814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Yuhan Zheng</a:t>
            </a:r>
          </a:p>
        </p:txBody>
      </p:sp>
      <p:sp>
        <p:nvSpPr>
          <p:cNvPr id="3" name="Department">
            <a:extLst xmlns:a="http://schemas.openxmlformats.org/drawingml/2006/main">
              <a:ext uri="{FF2B5EF4-FFF2-40B4-BE49-F238E27FC236}">
                <a16:creationId xmlns:a16="http://schemas.microsoft.com/office/drawing/2014/main" id="{D73056BB-D210-4271-A34D-853D701C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672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Department of Electrical Engineering and Computer Sciences</a:t>
            </a:r>
          </a:p>
        </p:txBody>
      </p:sp>
      <p:sp>
        <p:nvSpPr>
          <p:cNvPr id="4" name="University">
            <a:extLst xmlns:a="http://schemas.openxmlformats.org/drawingml/2006/main">
              <a:ext uri="{FF2B5EF4-FFF2-40B4-BE49-F238E27FC236}">
                <a16:creationId xmlns:a16="http://schemas.microsoft.com/office/drawing/2014/main" id="{B0CE8A39-0F4F-40B2-BB4B-607B47EE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768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University of California, Berkeley</a:t>
            </a:r>
          </a:p>
        </p:txBody>
      </p:sp>
    </p:spTree>
    <p:extLst>
      <p:ext uri="{BB962C8B-B14F-4D97-AF65-F5344CB8AC3E}">
        <p14:creationId xmlns:p14="http://schemas.microsoft.com/office/powerpoint/2010/main" val="448553416"/>
      </p:ext>
    </p:extLst>
  </p:cSld>
</p:sld>
</file>

<file path=ppt/slides/project_opening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A6AD0B0-EEF9-42DC-8BB1-3366E32A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sp>
        <p:nvSpPr>
          <p:cNvPr id="2" name="Benchmark section">
            <a:extLst xmlns:a="http://schemas.openxmlformats.org/drawingml/2006/main">
              <a:ext uri="{FF2B5EF4-FFF2-40B4-BE49-F238E27FC236}">
                <a16:creationId xmlns:a16="http://schemas.microsoft.com/office/drawing/2014/main" id="{D1A0B928-BF66-44D4-B9B5-42DD07E0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D80"/>
                </a:solidFill>
                <a:latin typeface="Arial"/>
                <a:ea typeface="Arial"/>
                <a:cs typeface="Arial"/>
                <a:hlinkClick xmlns:ns0="http://schemas.openxmlformats.org/officeDocument/2006/relationships" ns0:id="rIdBenchmarkJump" action="ppaction://hlinksldjump"/>
              </a:rPr>
              <a:t>1   Lorenz–96 benchmark</a:t>
            </a:r>
          </a:p>
        </p:txBody>
      </p:sp>
      <p:sp>
        <p:nvSpPr>
          <p:cNvPr id="3" name="Benchmark scope">
            <a:extLst xmlns:a="http://schemas.openxmlformats.org/drawingml/2006/main">
              <a:ext uri="{FF2B5EF4-FFF2-40B4-BE49-F238E27FC236}">
                <a16:creationId xmlns:a16="http://schemas.microsoft.com/office/drawing/2014/main" id="{C1A42E3F-1989-4584-8034-F7F50685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Sampling, dataset construction, and validation</a:t>
            </a:r>
          </a:p>
        </p:txBody>
      </p:sp>
      <p:sp>
        <p:nvSpPr>
          <p:cNvPr id="4" name="Panda section">
            <a:extLst xmlns:a="http://schemas.openxmlformats.org/drawingml/2006/main">
              <a:ext uri="{FF2B5EF4-FFF2-40B4-BE49-F238E27FC236}">
                <a16:creationId xmlns:a16="http://schemas.microsoft.com/office/drawing/2014/main" id="{1ED12BB9-BEC0-4F40-9A76-53AD6C85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D80"/>
                </a:solidFill>
                <a:latin typeface="Arial"/>
                <a:ea typeface="Arial"/>
                <a:cs typeface="Arial"/>
                <a:hlinkClick xmlns:ns1="http://schemas.openxmlformats.org/officeDocument/2006/relationships" ns1:id="rIdPandaJump" action="ppaction://hlinksldjump"/>
              </a:rPr>
              <a:t>2   Panda fine-tuning on Lorenz–96</a:t>
            </a:r>
          </a:p>
        </p:txBody>
      </p:sp>
      <p:sp>
        <p:nvSpPr>
          <p:cNvPr id="5" name="Panda scope">
            <a:extLst xmlns:a="http://schemas.openxmlformats.org/drawingml/2006/main">
              <a:ext uri="{FF2B5EF4-FFF2-40B4-BE49-F238E27FC236}">
                <a16:creationId xmlns:a16="http://schemas.microsoft.com/office/drawing/2014/main" id="{180AF0C4-15DA-4DE5-BE87-05EAF49D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Architecture, checkpoint reproducibility, and forecasting experiments</a:t>
            </a:r>
          </a:p>
        </p:txBody>
      </p:sp>
    </p:spTree>
    <p:extLst>
      <p:ext uri="{BB962C8B-B14F-4D97-AF65-F5344CB8AC3E}">
        <p14:creationId xmlns:p14="http://schemas.microsoft.com/office/powerpoint/2010/main" val="1248369517"/>
      </p:ext>
    </p:extLst>
  </p:cSld>
</p:sld>
</file>

<file path=ppt/slides/sampling_method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89B3A39-C67D-4DDF-A06B-A365C56B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Panda sampling and the role of dysts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31C7E265-D3C1-44D2-932D-1E9BCEAA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Library heading">
            <a:extLst xmlns:a="http://schemas.openxmlformats.org/drawingml/2006/main">
              <a:ext uri="{FF2B5EF4-FFF2-40B4-BE49-F238E27FC236}">
                <a16:creationId xmlns:a16="http://schemas.microsoft.com/office/drawing/2014/main" id="{66F4A363-D0A9-4548-ABC7-05A75834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dysts supplies equations and trajectory tools</a:t>
            </a:r>
          </a:p>
        </p:txBody>
      </p:sp>
      <p:sp>
        <p:nvSpPr>
          <p:cNvPr id="4" name="Library body">
            <a:extLst xmlns:a="http://schemas.openxmlformats.org/drawingml/2006/main">
              <a:ext uri="{FF2B5EF4-FFF2-40B4-BE49-F238E27FC236}">
                <a16:creationId xmlns:a16="http://schemas.microsoft.com/office/drawing/2014/main" id="{79544087-F432-4A44-830A-3D6E698B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The library provides published dynamical systems, numerical integration,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and metadata that includes the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characteristic period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(period field).</a:t>
            </a:r>
          </a:p>
        </p:txBody>
      </p:sp>
      <p:sp>
        <p:nvSpPr>
          <p:cNvPr id="5" name="Panda heading">
            <a:extLst xmlns:a="http://schemas.openxmlformats.org/drawingml/2006/main">
              <a:ext uri="{FF2B5EF4-FFF2-40B4-BE49-F238E27FC236}">
                <a16:creationId xmlns:a16="http://schemas.microsoft.com/office/drawing/2014/main" id="{FCE7BADE-591F-458A-AAAA-F7305877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Panda builds its pretraining data on this foundation</a:t>
            </a:r>
          </a:p>
        </p:txBody>
      </p:sp>
      <p:sp>
        <p:nvSpPr>
          <p:cNvPr id="6" name="Panda body">
            <a:extLst xmlns:a="http://schemas.openxmlformats.org/drawingml/2006/main">
              <a:ext uri="{FF2B5EF4-FFF2-40B4-BE49-F238E27FC236}">
                <a16:creationId xmlns:a16="http://schemas.microsoft.com/office/drawing/2014/main" id="{B21C0819-F84A-4C7D-AA5A-7C523DB1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33775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Panda starts from 129 curated chaotic systems, perturbs their parameters,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and combines systems through skew-product coupling.</a:t>
            </a:r>
          </a:p>
        </p:txBody>
      </p:sp>
      <p:sp>
        <p:nvSpPr>
          <p:cNvPr id="7" name="Question heading">
            <a:extLst xmlns:a="http://schemas.openxmlformats.org/drawingml/2006/main">
              <a:ext uri="{FF2B5EF4-FFF2-40B4-BE49-F238E27FC236}">
                <a16:creationId xmlns:a16="http://schemas.microsoft.com/office/drawing/2014/main" id="{7EBAD37C-7D66-42B9-B6E6-D6B9E72E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3392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Characteristic period</a:t>
            </a: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 and </a:t>
            </a: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initial integration step size</a:t>
            </a:r>
          </a:p>
        </p:txBody>
      </p:sp>
      <p:sp>
        <p:nvSpPr>
          <p:cNvPr id="8" name="Question body">
            <a:extLst xmlns:a="http://schemas.openxmlformats.org/drawingml/2006/main">
              <a:ext uri="{FF2B5EF4-FFF2-40B4-BE49-F238E27FC236}">
                <a16:creationId xmlns:a16="http://schemas.microsoft.com/office/drawing/2014/main" id="{B0ADEA3F-C078-4D02-B0AB-DBCE55E6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The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characteristic period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determines the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sampling interval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. The dt field stores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the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initial integration step size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. Error control adjusts later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integration step sizes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00" name="Visible source citations"/>
          <p:cNvSpPr/>
          <p:nvPr/>
        </p:nvSpPr>
        <p:spPr>
          <ns0:xfrm xmlns:ns0="http://schemas.openxmlformats.org/drawingml/2006/main">
            <ns0:off x="571500" y="6562725"/>
            <ns0:ext cx="10477500" cy="219075"/>
          </ns0:xfrm>
          <ns1:noFill xmlns:ns1="http://schemas.openxmlformats.org/drawingml/2006/main"/>
        </p:spPr>
        <p:txBody>
          <ns2:bodyPr xmlns:ns2="http://schemas.openxmlformats.org/drawingml/2006/main" lIns="0" rIns="0" tIns="0" bIns="0" wrap="none"/>
          <ns3:lstStyle xmlns:ns3="http://schemas.openxmlformats.org/drawingml/2006/main"/>
          <ns4:p xmlns:ns4="http://schemas.openxmlformats.org/drawingml/2006/main">
            <ns4:pPr marL="0" indent="0"/>
            <ns4:r>
              <ns4:rPr sz="1000" u="sng">
                <ns4:solidFill>
                  <ns4:srgbClr val="526477"/>
                </ns4:solidFill>
                <ns4:latin typeface="Arial"/>
                <ns4:hlinkClick xmlns:ns0="http://schemas.openxmlformats.org/officeDocument/2006/relationships" ns0:id="rIdSamplingCitation1"/>
              </ns4:rPr>
              <ns4:t>Lai, Bao &amp; Gilpin (ICLR 2026), §3 and App. A.3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1="http://schemas.openxmlformats.org/officeDocument/2006/relationships" ns1:id="rIdSamplingCitation2"/>
              </ns4:rPr>
              <ns4:t>Gilpin (NeurIPS 2021), §2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2="http://schemas.openxmlformats.org/officeDocument/2006/relationships" ns2:id="rIdSamplingCitation3"/>
              </ns4:rPr>
              <ns4:t>dysts library</ns4:t>
            </ns4:r>
          </ns4:p>
        </p:txBody>
      </p:sp>
    </p:spTree>
    <p:extLst>
      <p:ext uri="{BB962C8B-B14F-4D97-AF65-F5344CB8AC3E}">
        <p14:creationId xmlns:p14="http://schemas.microsoft.com/office/powerpoint/2010/main" val="759182631"/>
      </p:ext>
    </p:extLst>
  </p:cSld>
</p:sld>
</file>

<file path=ppt/slides/sampling_method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BF565AEB-5162-4800-ADA4-91D701BD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Integration step size and sampling interval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A3450395-B351-46DC-8F35-558DA575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Setup">
            <a:extLst xmlns:a="http://schemas.openxmlformats.org/drawingml/2006/main">
              <a:ext uri="{FF2B5EF4-FFF2-40B4-BE49-F238E27FC236}">
                <a16:creationId xmlns:a16="http://schemas.microsoft.com/office/drawing/2014/main" id="{C5EA2472-6ED3-494F-BF63-1977D1F6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Adaptive </a:t>
            </a:r>
            <a:r>
              <a:rPr sz="202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integration step sizes</a:t>
            </a:r>
            <a:r>
              <a:rPr sz="202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 advance the solver. </a:t>
            </a:r>
            <a:r>
              <a:rPr sz="202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Sampling times</a:t>
            </a:r>
            <a:r>
              <a:rPr sz="202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 follow a separate grid.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D9A74-3EE1-449E-9083-056172C3C4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cf23a5c06410f"/>
          <a:stretch xmlns:a="http://schemas.openxmlformats.org/drawingml/2006/main"/>
        </p:blipFill>
        <p:spPr>
          <a:xfrm xmlns:a="http://schemas.openxmlformats.org/drawingml/2006/main">
            <a:off x="571500" y="2259514"/>
            <a:ext cx="11049000" cy="2519947"/>
          </a:xfrm>
          <a:prstGeom xmlns:a="http://schemas.openxmlformats.org/drawingml/2006/main" prst="rect">
            <a:avLst/>
          </a:prstGeom>
        </p:spPr>
      </p:pic>
      <p:sp>
        <p:nvSpPr>
          <p:cNvPr id="5" name="Interpolation">
            <a:extLst xmlns:a="http://schemas.openxmlformats.org/drawingml/2006/main">
              <a:ext uri="{FF2B5EF4-FFF2-40B4-BE49-F238E27FC236}">
                <a16:creationId xmlns:a16="http://schemas.microsoft.com/office/drawing/2014/main" id="{B82F78D7-5880-41B5-950C-1201A1FF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At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sampling times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within an accepted integration step, the solver evaluates its interpolant.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Saved samples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are the resulting state values.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Sampling times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need not be integration times.</a:t>
            </a:r>
          </a:p>
        </p:txBody>
      </p:sp>
      <p:sp>
        <p:nvSpPr>
          <p:cNvPr id="6" name="Scope">
            <a:extLst xmlns:a="http://schemas.openxmlformats.org/drawingml/2006/main">
              <a:ext uri="{FF2B5EF4-FFF2-40B4-BE49-F238E27FC236}">
                <a16:creationId xmlns:a16="http://schemas.microsoft.com/office/drawing/2014/main" id="{F03D4615-9707-4FAD-B975-36D71672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05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The grid illustration is a simple ODE example, independent of the benchmark.</a:t>
            </a:r>
          </a:p>
        </p:txBody>
      </p:sp>
      <p:sp>
        <p:nvSpPr>
          <p:cNvPr id="100" name="Visible source citations"/>
          <p:cNvSpPr/>
          <p:nvPr/>
        </p:nvSpPr>
        <p:spPr>
          <ns0:xfrm xmlns:ns0="http://schemas.openxmlformats.org/drawingml/2006/main">
            <ns0:off x="571500" y="6562725"/>
            <ns0:ext cx="10477500" cy="219075"/>
          </ns0:xfrm>
          <ns1:noFill xmlns:ns1="http://schemas.openxmlformats.org/drawingml/2006/main"/>
        </p:spPr>
        <p:txBody>
          <ns2:bodyPr xmlns:ns2="http://schemas.openxmlformats.org/drawingml/2006/main" lIns="0" rIns="0" tIns="0" bIns="0" wrap="none"/>
          <ns3:lstStyle xmlns:ns3="http://schemas.openxmlformats.org/drawingml/2006/main"/>
          <ns4:p xmlns:ns4="http://schemas.openxmlformats.org/drawingml/2006/main">
            <ns4:pPr marL="0" indent="0"/>
            <ns4:r>
              <ns4:rPr sz="1000" u="sng">
                <ns4:solidFill>
                  <ns4:srgbClr val="526477"/>
                </ns4:solidFill>
                <ns4:latin typeface="Arial"/>
                <ns4:hlinkClick xmlns:ns0="http://schemas.openxmlformats.org/officeDocument/2006/relationships" ns0:id="rIdSamplingCitation1"/>
              </ns4:rPr>
              <ns4:t>SciPy solve_ivp: t_eval and dense output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1="http://schemas.openxmlformats.org/officeDocument/2006/relationships" ns1:id="rIdSamplingCitation2"/>
              </ns4:rPr>
              <ns4:t>dysts integration path</ns4:t>
            </ns4:r>
          </ns4:p>
        </p:txBody>
      </p:sp>
    </p:spTree>
    <p:extLst>
      <p:ext uri="{BB962C8B-B14F-4D97-AF65-F5344CB8AC3E}">
        <p14:creationId xmlns:p14="http://schemas.microsoft.com/office/powerpoint/2010/main" val="1124536096"/>
      </p:ext>
    </p:extLst>
  </p:cSld>
</p:sld>
</file>

<file path=ppt/slides/sampling_method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9298101-A55D-4DFD-A1FE-4079EDB6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Calibration of the characteristic period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1E8F254E-0915-4DF0-8C20-7BBD165B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Start heading">
            <a:extLst xmlns:a="http://schemas.openxmlformats.org/drawingml/2006/main">
              <a:ext uri="{FF2B5EF4-FFF2-40B4-BE49-F238E27FC236}">
                <a16:creationId xmlns:a16="http://schemas.microsoft.com/office/drawing/2014/main" id="{C8CE2901-0360-48F6-91B2-D188A13E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Start from existing system metadata</a:t>
            </a:r>
          </a:p>
        </p:txBody>
      </p:sp>
      <p:sp>
        <p:nvSpPr>
          <p:cNvPr id="4" name="Start body">
            <a:extLst xmlns:a="http://schemas.openxmlformats.org/drawingml/2006/main">
              <a:ext uri="{FF2B5EF4-FFF2-40B4-BE49-F238E27FC236}">
                <a16:creationId xmlns:a16="http://schemas.microsoft.com/office/drawing/2014/main" id="{C2276C65-319D-4376-9D78-64B25A6A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6425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Initial conditions, an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initial integration step size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estimate (dt), and a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characteristic period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estimate (period) initialize the calibration trajectory.</a:t>
            </a:r>
          </a:p>
        </p:txBody>
      </p:sp>
      <p:sp>
        <p:nvSpPr>
          <p:cNvPr id="5" name="Record heading">
            <a:extLst xmlns:a="http://schemas.openxmlformats.org/drawingml/2006/main">
              <a:ext uri="{FF2B5EF4-FFF2-40B4-BE49-F238E27FC236}">
                <a16:creationId xmlns:a16="http://schemas.microsoft.com/office/drawing/2014/main" id="{18BE84B9-8930-4629-BD09-0A985EF0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Generate and trim a calibration record</a:t>
            </a:r>
          </a:p>
        </p:txBody>
      </p:sp>
      <p:sp>
        <p:nvSpPr>
          <p:cNvPr id="6" name="Record body">
            <a:extLst xmlns:a="http://schemas.openxmlformats.org/drawingml/2006/main">
              <a:ext uri="{FF2B5EF4-FFF2-40B4-BE49-F238E27FC236}">
                <a16:creationId xmlns:a16="http://schemas.microsoft.com/office/drawing/2014/main" id="{45EECCEC-937E-4602-950C-EF92479F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33775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Current defaults generate 40,000 points and discard the first 20%.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Standardize channels before estimating their spectral timescales.</a:t>
            </a:r>
          </a:p>
        </p:txBody>
      </p:sp>
      <p:sp>
        <p:nvSpPr>
          <p:cNvPr id="7" name="Refine heading">
            <a:extLst xmlns:a="http://schemas.openxmlformats.org/drawingml/2006/main">
              <a:ext uri="{FF2B5EF4-FFF2-40B4-BE49-F238E27FC236}">
                <a16:creationId xmlns:a16="http://schemas.microsoft.com/office/drawing/2014/main" id="{C65E9F88-1ABD-4207-9A44-9810986D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Refine the stored estimates</a:t>
            </a:r>
          </a:p>
        </p:txBody>
      </p:sp>
      <p:sp>
        <p:nvSpPr>
          <p:cNvPr id="8" name="Refine body">
            <a:extLst xmlns:a="http://schemas.openxmlformats.org/drawingml/2006/main">
              <a:ext uri="{FF2B5EF4-FFF2-40B4-BE49-F238E27FC236}">
                <a16:creationId xmlns:a16="http://schemas.microsoft.com/office/drawing/2014/main" id="{996E640D-B96E-4266-BFDA-05975CB3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The default calibration loop repeats 20 times, updating the dt and period fields.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Within each run, the solver separately adapts its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integration step size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00" name="Visible source citations"/>
          <p:cNvSpPr/>
          <p:nvPr/>
        </p:nvSpPr>
        <p:spPr>
          <ns0:xfrm xmlns:ns0="http://schemas.openxmlformats.org/drawingml/2006/main">
            <ns0:off x="571500" y="6562725"/>
            <ns0:ext cx="10477500" cy="219075"/>
          </ns0:xfrm>
          <ns1:noFill xmlns:ns1="http://schemas.openxmlformats.org/drawingml/2006/main"/>
        </p:spPr>
        <p:txBody>
          <ns2:bodyPr xmlns:ns2="http://schemas.openxmlformats.org/drawingml/2006/main" lIns="0" rIns="0" tIns="0" bIns="0" wrap="none"/>
          <ns3:lstStyle xmlns:ns3="http://schemas.openxmlformats.org/drawingml/2006/main"/>
          <ns4:p xmlns:ns4="http://schemas.openxmlformats.org/drawingml/2006/main">
            <ns4:pPr marL="0" indent="0"/>
            <ns4:r>
              <ns4:rPr sz="1000" u="sng">
                <ns4:solidFill>
                  <ns4:srgbClr val="526477"/>
                </ns4:solidFill>
                <ns4:latin typeface="Arial"/>
                <ns4:hlinkClick xmlns:ns0="http://schemas.openxmlformats.org/officeDocument/2006/relationships" ns0:id="rIdSamplingCitation1"/>
              </ns4:rPr>
              <ns4:t>dysts: compute_timestep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1="http://schemas.openxmlformats.org/officeDocument/2006/relationships" ns1:id="rIdSamplingCitation2"/>
              </ns4:rPr>
              <ns4:t>Gilpin (2021), Supp. V</ns4:t>
            </ns4:r>
          </ns4:p>
        </p:txBody>
      </p:sp>
    </p:spTree>
    <p:extLst>
      <p:ext uri="{BB962C8B-B14F-4D97-AF65-F5344CB8AC3E}">
        <p14:creationId xmlns:p14="http://schemas.microsoft.com/office/powerpoint/2010/main" val="1230522445"/>
      </p:ext>
    </p:extLst>
  </p:cSld>
</p:sld>
</file>

<file path=ppt/slides/sampling_method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D6CA2C34-D5B9-4623-8569-DFBC625E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Characteristic period: Gaussian smoothing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668072F5-F1A9-41BC-BC69-D07B84BC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Average heading">
            <a:extLst xmlns:a="http://schemas.openxmlformats.org/drawingml/2006/main">
              <a:ext uri="{FF2B5EF4-FFF2-40B4-BE49-F238E27FC236}">
                <a16:creationId xmlns:a16="http://schemas.microsoft.com/office/drawing/2014/main" id="{C66A8055-5FC9-4E5E-9C08-B16EF649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A weighted local average</a:t>
            </a:r>
          </a:p>
        </p:txBody>
      </p:sp>
      <p:sp>
        <p:nvSpPr>
          <p:cNvPr id="4" name="Average body">
            <a:extLst xmlns:a="http://schemas.openxmlformats.org/drawingml/2006/main">
              <a:ext uri="{FF2B5EF4-FFF2-40B4-BE49-F238E27FC236}">
                <a16:creationId xmlns:a16="http://schemas.microsoft.com/office/drawing/2014/main" id="{7A68E71E-FF32-4868-841D-AD0E7FC9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Replace each sample using nearby values.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Closer neighbors receive more weight.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The weights sum to one.</a:t>
            </a:r>
          </a:p>
        </p:txBody>
      </p:sp>
      <p:sp>
        <p:nvSpPr>
          <p:cNvPr id="5" name="Width">
            <a:extLst xmlns:a="http://schemas.openxmlformats.org/drawingml/2006/main">
              <a:ext uri="{FF2B5EF4-FFF2-40B4-BE49-F238E27FC236}">
                <a16:creationId xmlns:a16="http://schemas.microsoft.com/office/drawing/2014/main" id="{DFA472A5-8F17-44F1-BF8F-868E5874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dysts uses σ = 3 samples. The physical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width therefore depends on the input grid.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0F4CE-6C53-40F7-AEBE-E2AF195AC8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4f20a1293440c"/>
          <a:stretch xmlns:a="http://schemas.openxmlformats.org/drawingml/2006/main"/>
        </p:blipFill>
        <p:spPr>
          <a:xfrm xmlns:a="http://schemas.openxmlformats.org/drawingml/2006/main">
            <a:off x="5953125" y="1477417"/>
            <a:ext cx="5619750" cy="2722066"/>
          </a:xfrm>
          <a:prstGeom xmlns:a="http://schemas.openxmlformats.org/drawingml/2006/main" prst="rect">
            <a:avLst/>
          </a:prstGeom>
        </p:spPr>
      </p:pic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201" name="Gaussian mean"/>
              <p:cNvSpPr>
                <a:spLocks noGrp="1"/>
              </p:cNvSpPr>
              <p:nvPr/>
            </p:nvSpPr>
            <p:spPr>
              <a:xfrm>
                <a:off x="571500" y="4400550"/>
                <a:ext cx="4953000" cy="8953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sz="24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i"/>
                                </m:rPr>
                                <a:rPr sz="24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i"/>
                            </m:r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∑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j</m:t>
                          </m:r>
                        </m:sub>
                      </m:sSub>
                      <m:sSub>
                        <m:sSubPr>
                          <m:ctrl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j</m:t>
                          </m:r>
                        </m:sub>
                      </m:sSub>
                      <m:sSub>
                        <m:sSubPr>
                          <m:ctrl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i"/>
                            </m:r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01" name="Gaussian mean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4400550"/>
                <a:ext cx="4953000" cy="895350"/>
              </a:xfrm>
              <a:prstGeom prst="rect">
                <a:avLst/>
              </a:prstGeom>
              <a:blipFill>
                <a:blip r:embed="rIdMethodEquation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pPr algn="l"/>
                <a:r>
                  <a:rPr sz="2400">
                    <a:solidFill>
                      <a:srgbClr val="152B43"/>
                    </a:solidFill>
                    <a:latin typeface="Cambria Math"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202" name="Gaussian weights"/>
              <p:cNvSpPr>
                <a:spLocks noGrp="1"/>
              </p:cNvSpPr>
              <p:nvPr/>
            </p:nvSpPr>
            <p:spPr>
              <a:xfrm>
                <a:off x="6096000" y="4305300"/>
                <a:ext cx="5334000" cy="1047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∝</m:t>
                      </m:r>
                      <m:r>
                        <m:rPr>
                          <m:sty m:val="p"/>
                        </m:rP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(</m:t>
                      </m:r>
                      <m:f>
                        <m:fPr>
                          <m:ctrl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sz="24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sz="24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j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sz="24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sz="24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2</m:t>
                          </m:r>
                          <m:sSup>
                            <m:sSupPr>
                              <m:ctrlPr>
                                <a:rPr sz="24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sz="24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sz="24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sz="2400">
                          <a:solidFill>
                            <a:srgbClr val="152B4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02" name="Gaussian weights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305300"/>
                <a:ext cx="5334000" cy="1047750"/>
              </a:xfrm>
              <a:prstGeom prst="rect">
                <a:avLst/>
              </a:prstGeom>
              <a:blipFill>
                <a:blip r:embed="rIdMethodEquation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pPr algn="l"/>
                <a:r>
                  <a:rPr sz="2400">
                    <a:solidFill>
                      <a:srgbClr val="152B43"/>
                    </a:solidFill>
                    <a:latin typeface="Cambria Math"/>
                  </a:rPr>
                  <a:t> </a:t>
                </a:r>
              </a:p>
            </p:txBody>
          </p:sp>
        </mc:Fallback>
      </mc:AlternateContent>
      <p:sp>
        <p:nvSpPr>
          <p:cNvPr id="9" name="Effect">
            <a:extLst xmlns:a="http://schemas.openxmlformats.org/drawingml/2006/main">
              <a:ext uri="{FF2B5EF4-FFF2-40B4-BE49-F238E27FC236}">
                <a16:creationId xmlns:a16="http://schemas.microsoft.com/office/drawing/2014/main" id="{56BBC806-8147-4CFF-AAEB-193EAAF0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Local averaging suppresses high-frequency oscillations, including genuine fast dynamics.</a:t>
            </a:r>
          </a:p>
          <a:p xmlns:a="http://schemas.openxmlformats.org/drawingml/2006/main">
            <a: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It does not identify which fluctuations are noise.</a:t>
            </a:r>
          </a:p>
        </p:txBody>
      </p:sp>
      <p:sp>
        <p:nvSpPr>
          <p:cNvPr id="100" name="Visible source citations"/>
          <p:cNvSpPr/>
          <p:nvPr/>
        </p:nvSpPr>
        <p:spPr>
          <ns0:xfrm xmlns:ns0="http://schemas.openxmlformats.org/drawingml/2006/main">
            <ns0:off x="571500" y="6562725"/>
            <ns0:ext cx="10477500" cy="219075"/>
          </ns0:xfrm>
          <ns1:noFill xmlns:ns1="http://schemas.openxmlformats.org/drawingml/2006/main"/>
        </p:spPr>
        <p:txBody>
          <ns2:bodyPr xmlns:ns2="http://schemas.openxmlformats.org/drawingml/2006/main" lIns="0" rIns="0" tIns="0" bIns="0" wrap="none"/>
          <ns3:lstStyle xmlns:ns3="http://schemas.openxmlformats.org/drawingml/2006/main"/>
          <ns4:p xmlns:ns4="http://schemas.openxmlformats.org/drawingml/2006/main">
            <ns4:pPr marL="0" indent="0"/>
            <ns4:r>
              <ns4:rPr sz="1000" u="sng">
                <ns4:solidFill>
                  <ns4:srgbClr val="526477"/>
                </ns4:solidFill>
                <ns4:latin typeface="Arial"/>
                <ns4:hlinkClick xmlns:ns0="http://schemas.openxmlformats.org/officeDocument/2006/relationships" ns0:id="rIdSamplingCitation1"/>
              </ns4:rPr>
              <ns4:t>dysts: find_characteristic_timescale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1="http://schemas.openxmlformats.org/officeDocument/2006/relationships" ns1:id="rIdSamplingCitation2"/>
              </ns4:rPr>
              <ns4:t>SciPy gaussian_filter1d</ns4:t>
            </ns4:r>
          </ns4:p>
        </p:txBody>
      </p:sp>
    </p:spTree>
    <p:extLst>
      <p:ext uri="{BB962C8B-B14F-4D97-AF65-F5344CB8AC3E}">
        <p14:creationId xmlns:p14="http://schemas.microsoft.com/office/powerpoint/2010/main" val="758659150"/>
      </p:ext>
    </p:extLst>
  </p:cSld>
</p:sld>
</file>

<file path=ppt/slides/sampling_method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DB61E6EF-473D-47EF-AD8E-1B6F2CF3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Characteristic period: Blackman–Harris window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BA312F8B-558C-4EEB-8BDC-C7ADEDB2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Why heading">
            <a:extLst xmlns:a="http://schemas.openxmlformats.org/drawingml/2006/main">
              <a:ext uri="{FF2B5EF4-FFF2-40B4-BE49-F238E27FC236}">
                <a16:creationId xmlns:a16="http://schemas.microsoft.com/office/drawing/2014/main" id="{4A5298C3-051E-46E8-BD54-1860628A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A finite record has boundaries</a:t>
            </a:r>
          </a:p>
        </p:txBody>
      </p:sp>
      <p:sp>
        <p:nvSpPr>
          <p:cNvPr id="4" name="Why body">
            <a:extLst xmlns:a="http://schemas.openxmlformats.org/drawingml/2006/main">
              <a:ext uri="{FF2B5EF4-FFF2-40B4-BE49-F238E27FC236}">
                <a16:creationId xmlns:a16="http://schemas.microsoft.com/office/drawing/2014/main" id="{B01D7D62-7891-4AB4-BEBD-CCD8C31E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A Fourier representation repeats the record.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A mismatch between its ends can spread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power into other frequency bins.</a:t>
            </a:r>
          </a:p>
        </p:txBody>
      </p:sp>
      <p:sp>
        <p:nvSpPr>
          <p:cNvPr id="5" name="Action">
            <a:extLst xmlns:a="http://schemas.openxmlformats.org/drawingml/2006/main">
              <a:ext uri="{FF2B5EF4-FFF2-40B4-BE49-F238E27FC236}">
                <a16:creationId xmlns:a16="http://schemas.microsoft.com/office/drawing/2014/main" id="{D1102183-0A57-4312-A250-A53124D9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Multiply each sample by an envelope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that approaches zero at both ends.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The center receives the largest weights.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5913D-EC11-484B-867B-0442FF19E2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01f0f53cf4715"/>
          <a:stretch xmlns:a="http://schemas.openxmlformats.org/drawingml/2006/main"/>
        </p:blipFill>
        <p:spPr>
          <a:xfrm xmlns:a="http://schemas.openxmlformats.org/drawingml/2006/main">
            <a:off x="6143625" y="1641872"/>
            <a:ext cx="5334000" cy="2583656"/>
          </a:xfrm>
          <a:prstGeom xmlns:a="http://schemas.openxmlformats.org/drawingml/2006/main" prst="rect">
            <a:avLst/>
          </a:prstGeom>
        </p:spPr>
      </p:pic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203" name="Window multiplication"/>
              <p:cNvSpPr>
                <a:spLocks noGrp="1"/>
              </p:cNvSpPr>
              <p:nvPr/>
            </p:nvSpPr>
            <p:spPr>
              <a:xfrm>
                <a:off x="571500" y="4619625"/>
                <a:ext cx="11049000" cy="809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sz="26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i"/>
                                </m:rPr>
                                <a:rPr sz="26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i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03" name="Window multiplication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4619625"/>
                <a:ext cx="11049000" cy="809625"/>
              </a:xfrm>
              <a:prstGeom prst="rect">
                <a:avLst/>
              </a:prstGeom>
              <a:blipFill>
                <a:blip r:embed="rIdMethodEquation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pPr algn="l"/>
                <a:r>
                  <a:rPr sz="2600">
                    <a:solidFill>
                      <a:srgbClr val="152B43"/>
                    </a:solidFill>
                    <a:latin typeface="Cambria Math"/>
                  </a:rPr>
                  <a:t> </a:t>
                </a:r>
              </a:p>
            </p:txBody>
          </p:sp>
        </mc:Fallback>
      </mc:AlternateContent>
      <p:sp>
        <p:nvSpPr>
          <p:cNvPr id="8" name="Tradeoff">
            <a:extLst xmlns:a="http://schemas.openxmlformats.org/drawingml/2006/main">
              <a:ext uri="{FF2B5EF4-FFF2-40B4-BE49-F238E27FC236}">
                <a16:creationId xmlns:a16="http://schemas.microsoft.com/office/drawing/2014/main" id="{39379917-5088-4ECD-835C-37A8475A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The window reduces boundary leakage and changes the spectrum.</a:t>
            </a:r>
          </a:p>
          <a:p xmlns:a="http://schemas.openxmlformats.org/drawingml/2006/main">
            <a: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Blackman–Harris suppresses sidelobes at the cost of a wider main peak.</a:t>
            </a:r>
          </a:p>
        </p:txBody>
      </p:sp>
      <p:sp>
        <p:nvSpPr>
          <p:cNvPr id="100" name="Visible source citations"/>
          <p:cNvSpPr/>
          <p:nvPr/>
        </p:nvSpPr>
        <p:spPr>
          <ns0:xfrm xmlns:ns0="http://schemas.openxmlformats.org/drawingml/2006/main">
            <ns0:off x="571500" y="6562725"/>
            <ns0:ext cx="10477500" cy="219075"/>
          </ns0:xfrm>
          <ns1:noFill xmlns:ns1="http://schemas.openxmlformats.org/drawingml/2006/main"/>
        </p:spPr>
        <p:txBody>
          <ns2:bodyPr xmlns:ns2="http://schemas.openxmlformats.org/drawingml/2006/main" lIns="0" rIns="0" tIns="0" bIns="0" wrap="none"/>
          <ns3:lstStyle xmlns:ns3="http://schemas.openxmlformats.org/drawingml/2006/main"/>
          <ns4:p xmlns:ns4="http://schemas.openxmlformats.org/drawingml/2006/main">
            <ns4:pPr marL="0" indent="0"/>
            <ns4:r>
              <ns4:rPr sz="1000" u="sng">
                <ns4:solidFill>
                  <ns4:srgbClr val="526477"/>
                </ns4:solidFill>
                <ns4:latin typeface="Arial"/>
                <ns4:hlinkClick xmlns:ns0="http://schemas.openxmlformats.org/officeDocument/2006/relationships" ns0:id="rIdSamplingCitation1"/>
              </ns4:rPr>
              <ns4:t>dysts: find_psd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1="http://schemas.openxmlformats.org/officeDocument/2006/relationships" ns1:id="rIdSamplingCitation2"/>
              </ns4:rPr>
              <ns4:t>SciPy Blackman–Harris window</ns4:t>
            </ns4:r>
          </ns4:p>
        </p:txBody>
      </p:sp>
    </p:spTree>
    <p:extLst>
      <p:ext uri="{BB962C8B-B14F-4D97-AF65-F5344CB8AC3E}">
        <p14:creationId xmlns:p14="http://schemas.microsoft.com/office/powerpoint/2010/main" val="1028052145"/>
      </p:ext>
    </p:extLst>
  </p:cSld>
</p:sld>
</file>

<file path=ppt/slides/sampling_method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2F16794-D14F-4BAE-84B7-891346B3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Characteristic period: spectrum and peak choice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C427F146-941C-40BD-91E6-BC89DE56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Power heading">
            <a:extLst xmlns:a="http://schemas.openxmlformats.org/drawingml/2006/main">
              <a:ext uri="{FF2B5EF4-FFF2-40B4-BE49-F238E27FC236}">
                <a16:creationId xmlns:a16="http://schemas.microsoft.com/office/drawing/2014/main" id="{B0FEF321-02A3-4B21-9C97-1D30B06A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A periodogram estimates power</a:t>
            </a:r>
          </a:p>
        </p:txBody>
      </p:sp>
      <p:sp>
        <p:nvSpPr>
          <p:cNvPr id="4" name="Power body">
            <a:extLst xmlns:a="http://schemas.openxmlformats.org/drawingml/2006/main">
              <a:ext uri="{FF2B5EF4-FFF2-40B4-BE49-F238E27FC236}">
                <a16:creationId xmlns:a16="http://schemas.microsoft.com/office/drawing/2014/main" id="{A231AC10-C5DF-4EE5-B92E-2AA9629E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Compute the Fourier transform of u,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the smoothed and windowed signal.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Power is proportional to squared magnitude.</a:t>
            </a:r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204" name="Spectral power"/>
              <p:cNvSpPr>
                <a:spLocks noGrp="1"/>
              </p:cNvSpPr>
              <p:nvPr/>
            </p:nvSpPr>
            <p:spPr>
              <a:xfrm>
                <a:off x="571500" y="3200400"/>
                <a:ext cx="4762500" cy="857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∝</m:t>
                      </m:r>
                      <m:sSup>
                        <m:sSupPr>
                          <m:ctrl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|</m:t>
                          </m:r>
                          <m:sSub>
                            <m:sSubPr>
                              <m:ctrlPr>
                                <a:rPr sz="26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sz="26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sz="26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|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04" name="Spectral power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200400"/>
                <a:ext cx="4762500" cy="857250"/>
              </a:xfrm>
              <a:prstGeom prst="rect">
                <a:avLst/>
              </a:prstGeom>
              <a:blipFill>
                <a:blip r:embed="rIdMethodEquation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pPr algn="l"/>
                <a:r>
                  <a:rPr sz="2600">
                    <a:solidFill>
                      <a:srgbClr val="152B43"/>
                    </a:solidFill>
                    <a:latin typeface="Cambria Math"/>
                  </a:rPr>
                  <a:t> </a:t>
                </a:r>
              </a:p>
            </p:txBody>
          </p:sp>
        </mc:Fallback>
      </mc:AlternateContent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BB8B1-0D40-478B-8D3C-DEAEF993C9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01485d77344b1"/>
          <a:stretch xmlns:a="http://schemas.openxmlformats.org/drawingml/2006/main"/>
        </p:blipFill>
        <p:spPr>
          <a:xfrm xmlns:a="http://schemas.openxmlformats.org/drawingml/2006/main">
            <a:off x="5953125" y="1525042"/>
            <a:ext cx="5619750" cy="2722066"/>
          </a:xfrm>
          <a:prstGeom xmlns:a="http://schemas.openxmlformats.org/drawingml/2006/main" prst="rect">
            <a:avLst/>
          </a:prstGeom>
        </p:spPr>
      </p:pic>
      <p:sp>
        <p:nvSpPr>
          <p:cNvPr id="7" name="Rank">
            <a:extLst xmlns:a="http://schemas.openxmlformats.org/drawingml/2006/main">
              <a:ext uri="{FF2B5EF4-FFF2-40B4-BE49-F238E27FC236}">
                <a16:creationId xmlns:a16="http://schemas.microsoft.com/office/drawing/2014/main" id="{6E555D7E-C137-40A2-8F08-4230B7FE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11049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The helper sorts bins by power, groups consecutive increasing bin indices in that order,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and uses the mean index of the leading retained group as its frequency candidate.</a:t>
            </a:r>
          </a:p>
        </p:txBody>
      </p:sp>
      <p:sp>
        <p:nvSpPr>
          <p:cNvPr id="8" name="Caveat">
            <a:extLst xmlns:a="http://schemas.openxmlformats.org/drawingml/2006/main">
              <a:ext uri="{FF2B5EF4-FFF2-40B4-BE49-F238E27FC236}">
                <a16:creationId xmlns:a16="http://schemas.microsoft.com/office/drawing/2014/main" id="{E5FC2F4D-68F6-4041-BAA1-C9CC2A79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This grouping is an implementation-specific heuristic, rather than a general peak detector.</a:t>
            </a:r>
          </a:p>
        </p:txBody>
      </p:sp>
      <p:sp>
        <p:nvSpPr>
          <p:cNvPr id="100" name="Visible source citations"/>
          <p:cNvSpPr/>
          <p:nvPr/>
        </p:nvSpPr>
        <p:spPr>
          <ns0:xfrm xmlns:ns0="http://schemas.openxmlformats.org/drawingml/2006/main">
            <ns0:off x="571500" y="6562725"/>
            <ns0:ext cx="10477500" cy="219075"/>
          </ns0:xfrm>
          <ns1:noFill xmlns:ns1="http://schemas.openxmlformats.org/drawingml/2006/main"/>
        </p:spPr>
        <p:txBody>
          <ns2:bodyPr xmlns:ns2="http://schemas.openxmlformats.org/drawingml/2006/main" lIns="0" rIns="0" tIns="0" bIns="0" wrap="none"/>
          <ns3:lstStyle xmlns:ns3="http://schemas.openxmlformats.org/drawingml/2006/main"/>
          <ns4:p xmlns:ns4="http://schemas.openxmlformats.org/drawingml/2006/main">
            <ns4:pPr marL="0" indent="0"/>
            <ns4:r>
              <ns4:rPr sz="1000" u="sng">
                <ns4:solidFill>
                  <ns4:srgbClr val="526477"/>
                </ns4:solidFill>
                <ns4:latin typeface="Arial"/>
                <ns4:hlinkClick xmlns:ns0="http://schemas.openxmlformats.org/officeDocument/2006/relationships" ns0:id="rIdSamplingCitation1"/>
              </ns4:rPr>
              <ns4:t>dysts: spectral utilities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1="http://schemas.openxmlformats.org/officeDocument/2006/relationships" ns1:id="rIdSamplingCitation2"/>
              </ns4:rPr>
              <ns4:t>dysts: group_consecutives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2="http://schemas.openxmlformats.org/officeDocument/2006/relationships" ns2:id="rIdSamplingCitation3"/>
              </ns4:rPr>
              <ns4:t>SciPy periodogram</ns4:t>
            </ns4:r>
          </ns4:p>
        </p:txBody>
      </p:sp>
    </p:spTree>
    <p:extLst>
      <p:ext uri="{BB962C8B-B14F-4D97-AF65-F5344CB8AC3E}">
        <p14:creationId xmlns:p14="http://schemas.microsoft.com/office/powerpoint/2010/main" val="1663869413"/>
      </p:ext>
    </p:extLst>
  </p:cSld>
</p:sld>
</file>

<file path=ppt/slides/sampling_method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93B24F4-C6DD-4DDF-B909-3F18BFCB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Characteristic period: channel aggregation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3AC9DC50-596A-4E49-8D82-E3D4F240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Units">
            <a:extLst xmlns:a="http://schemas.openxmlformats.org/drawingml/2006/main">
              <a:ext uri="{FF2B5EF4-FFF2-40B4-BE49-F238E27FC236}">
                <a16:creationId xmlns:a16="http://schemas.microsoft.com/office/drawing/2014/main" id="{F4A96DB3-C727-48D3-ADDB-1CE1F66C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Convert the selected frequency from cycles per sample into a physical timescale.</a:t>
            </a:r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205" name="Channel period"/>
              <p:cNvSpPr>
                <a:spLocks noGrp="1"/>
              </p:cNvSpPr>
              <p:nvPr/>
            </p:nvSpPr>
            <p:spPr>
              <a:xfrm>
                <a:off x="571500" y="2447925"/>
                <a:ext cx="428625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8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28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sz="28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sz="2800">
                          <a:solidFill>
                            <a:srgbClr val="152B43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28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28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sz="28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Δ</m:t>
                              </m:r>
                              <m:r>
                                <m:rPr>
                                  <m:sty m:val="i"/>
                                </m:rPr>
                                <a:rPr sz="28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28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sz="28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sz="28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l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sz="28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sz="28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ν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sz="28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c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205" name="Channel period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2447925"/>
                <a:ext cx="4286250" cy="1095375"/>
              </a:xfrm>
              <a:prstGeom prst="rect">
                <a:avLst/>
              </a:prstGeom>
              <a:blipFill>
                <a:blip r:embed="rIdMethodEquation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pPr algn="l"/>
                <a:r>
                  <a:rPr sz="2800">
                    <a:solidFill>
                      <a:srgbClr val="152B43"/>
                    </a:solidFill>
                    <a:latin typeface="Cambria Math"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206" name="Median period"/>
              <p:cNvSpPr>
                <a:spLocks noGrp="1"/>
              </p:cNvSpPr>
              <p:nvPr/>
            </p:nvSpPr>
            <p:spPr>
              <a:xfrm>
                <a:off x="5429250" y="2447925"/>
                <a:ext cx="59055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i"/>
                        </m:rPr>
                        <a:rPr sz="2800">
                          <a:solidFill>
                            <a:srgbClr val="152B43"/>
                          </a:solidFill>
                          <a:latin typeface="Cambria Math"/>
                        </a:rPr>
                        <m:t>φ</m:t>
                      </m:r>
                      <m:r>
                        <m:rPr>
                          <m:sty m:val="p"/>
                        </m:rPr>
                        <a:rPr sz="2800">
                          <a:solidFill>
                            <a:srgbClr val="152B43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sz="28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28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sz="28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sz="28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sz="28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sz="28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sz="28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sz="28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sz="2800">
                          <a:solidFill>
                            <a:srgbClr val="152B43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sz="28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28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sz="28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sz="2800">
                          <a:solidFill>
                            <a:srgbClr val="152B4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06" name="Median period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50" y="2447925"/>
                <a:ext cx="5905500" cy="1095375"/>
              </a:xfrm>
              <a:prstGeom prst="rect">
                <a:avLst/>
              </a:prstGeom>
              <a:blipFill>
                <a:blip r:embed="rIdMethodEquation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pPr algn="l"/>
                <a:r>
                  <a:rPr sz="2800">
                    <a:solidFill>
                      <a:srgbClr val="152B43"/>
                    </a:solidFill>
                    <a:latin typeface="Cambria Math"/>
                  </a:rPr>
                  <a:t> </a:t>
                </a:r>
              </a:p>
            </p:txBody>
          </p:sp>
        </mc:Fallback>
      </mc:AlternateContent>
      <p:sp>
        <p:nvSpPr>
          <p:cNvPr id="6" name="Definitions">
            <a:extLst xmlns:a="http://schemas.openxmlformats.org/drawingml/2006/main">
              <a:ext uri="{FF2B5EF4-FFF2-40B4-BE49-F238E27FC236}">
                <a16:creationId xmlns:a16="http://schemas.microsoft.com/office/drawing/2014/main" id="{127BDEF3-4E7E-499F-853B-3A0BC1EC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The numerator is the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calibration sampling interval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. Each ν is in cycles per sample.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Estimate a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characteristic period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per channel, then take the median across channels.</a:t>
            </a:r>
          </a:p>
        </p:txBody>
      </p:sp>
      <p:sp>
        <p:nvSpPr>
          <p:cNvPr id="7" name="Example">
            <a:extLst xmlns:a="http://schemas.openxmlformats.org/drawingml/2006/main">
              <a:ext uri="{FF2B5EF4-FFF2-40B4-BE49-F238E27FC236}">
                <a16:creationId xmlns:a16="http://schemas.microsoft.com/office/drawing/2014/main" id="{CC7A1820-0F82-41BB-AD5C-E029D0C1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Example: channel </a:t>
            </a:r>
            <a:r>
              <a:rPr sz="19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characteristic periods</a:t>
            </a:r>
            <a:r>
              <a:rPr sz="1950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4, 5, and 100 give a system </a:t>
            </a:r>
            <a:r>
              <a:rPr sz="19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characteristic period</a:t>
            </a:r>
            <a:r>
              <a:rPr sz="1950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of 5.</a:t>
            </a:r>
          </a:p>
        </p:txBody>
      </p:sp>
      <p:sp>
        <p:nvSpPr>
          <p:cNvPr id="8" name="Meaning">
            <a:extLst xmlns:a="http://schemas.openxmlformats.org/drawingml/2006/main">
              <a:ext uri="{FF2B5EF4-FFF2-40B4-BE49-F238E27FC236}">
                <a16:creationId xmlns:a16="http://schemas.microsoft.com/office/drawing/2014/main" id="{A2811A82-E5EB-48C8-877F-64637C65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The </a:t>
            </a:r>
            <a:r>
              <a:rPr sz="18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characteristic period</a:t>
            </a:r>
            <a:r>
              <a:rPr sz="18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 is a representative spectral timescale estimated by dysts.</a:t>
            </a:r>
          </a:p>
          <a:p xmlns:a="http://schemas.openxmlformats.org/drawingml/2006/main">
            <a: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A chaotic trajectory generally has no exact repetition period or unique characteristic time.</a:t>
            </a:r>
          </a:p>
        </p:txBody>
      </p:sp>
      <p:sp>
        <p:nvSpPr>
          <p:cNvPr id="100" name="Visible source citations"/>
          <p:cNvSpPr/>
          <p:nvPr/>
        </p:nvSpPr>
        <p:spPr>
          <ns0:xfrm xmlns:ns0="http://schemas.openxmlformats.org/drawingml/2006/main">
            <ns0:off x="571500" y="6562725"/>
            <ns0:ext cx="10477500" cy="219075"/>
          </ns0:xfrm>
          <ns1:noFill xmlns:ns1="http://schemas.openxmlformats.org/drawingml/2006/main"/>
        </p:spPr>
        <p:txBody>
          <ns2:bodyPr xmlns:ns2="http://schemas.openxmlformats.org/drawingml/2006/main" lIns="0" rIns="0" tIns="0" bIns="0" wrap="none"/>
          <ns3:lstStyle xmlns:ns3="http://schemas.openxmlformats.org/drawingml/2006/main"/>
          <ns4:p xmlns:ns4="http://schemas.openxmlformats.org/drawingml/2006/main">
            <ns4:pPr marL="0" indent="0"/>
            <ns4:r>
              <ns4:rPr sz="1000" u="sng">
                <ns4:solidFill>
                  <ns4:srgbClr val="526477"/>
                </ns4:solidFill>
                <ns4:latin typeface="Arial"/>
                <ns4:hlinkClick xmlns:ns0="http://schemas.openxmlformats.org/officeDocument/2006/relationships" ns0:id="rIdSamplingCitation1"/>
              </ns4:rPr>
              <ns4:t>dysts: compute_timestep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1="http://schemas.openxmlformats.org/officeDocument/2006/relationships" ns1:id="rIdSamplingCitation2"/>
              </ns4:rPr>
              <ns4:t>Gilpin (2021), timescale alignment</ns4:t>
            </ns4:r>
          </ns4:p>
        </p:txBody>
      </p:sp>
    </p:spTree>
    <p:extLst>
      <p:ext uri="{BB962C8B-B14F-4D97-AF65-F5344CB8AC3E}">
        <p14:creationId xmlns:p14="http://schemas.microsoft.com/office/powerpoint/2010/main" val="211469221"/>
      </p:ext>
    </p:extLst>
  </p:cSld>
</p:sld>
</file>

<file path=ppt/slides/sampling_method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2DD89E8E-3CD9-47E6-972D-9DECF2A0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Sampling interval in Panda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17797ADA-E009-47CC-B31B-22C50A0F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2E6DD99-3093-40D0-88CD-F83B8733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Choose m </a:t>
            </a: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saved samples</a:t>
            </a: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 per </a:t>
            </a: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characteristic period</a:t>
            </a: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 and n </a:t>
            </a: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saved samples</a:t>
            </a: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 in total.</a:t>
            </a:r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207" name="Output interval"/>
              <p:cNvSpPr>
                <a:spLocks noGrp="1"/>
              </p:cNvSpPr>
              <p:nvPr/>
            </p:nvSpPr>
            <p:spPr>
              <a:xfrm>
                <a:off x="571500" y="2095500"/>
                <a:ext cx="4476750" cy="9525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Δ</m:t>
                          </m:r>
                          <m:r>
                            <m:rPr>
                              <m:sty m:val="i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sz="2700">
                          <a:solidFill>
                            <a:srgbClr val="152B43"/>
                          </a:solidFill>
                          <a:latin typeface="Cambria Math"/>
                        </a:rPr>
                        <m:t>≈</m:t>
                      </m:r>
                      <m:f>
                        <m:fPr>
                          <m:ctrl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φ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m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207" name="Output interval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2095500"/>
                <a:ext cx="4476750" cy="952500"/>
              </a:xfrm>
              <a:prstGeom prst="rect">
                <a:avLst/>
              </a:prstGeom>
              <a:blipFill>
                <a:blip r:embed="rIdMethodEquation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pPr algn="l"/>
                <a:r>
                  <a:rPr sz="2700">
                    <a:solidFill>
                      <a:srgbClr val="152B43"/>
                    </a:solidFill>
                    <a:latin typeface="Cambria Math"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208" name="Exact current grid"/>
              <p:cNvSpPr>
                <a:spLocks noGrp="1"/>
              </p:cNvSpPr>
              <p:nvPr/>
            </p:nvSpPr>
            <p:spPr>
              <a:xfrm>
                <a:off x="5905500" y="2095500"/>
                <a:ext cx="5524500" cy="9525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Δ</m:t>
                          </m:r>
                          <m:r>
                            <m:rPr>
                              <m:sty m:val="i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sz="2700">
                          <a:solidFill>
                            <a:srgbClr val="152B43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n</m:t>
                          </m:r>
                          <m:r>
                            <m:rPr>
                              <m:sty m:val="i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φ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i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208" name="Exact current grid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0" y="2095500"/>
                <a:ext cx="5524500" cy="952500"/>
              </a:xfrm>
              <a:prstGeom prst="rect">
                <a:avLst/>
              </a:prstGeom>
              <a:blipFill>
                <a:blip r:embed="rIdMethodEquation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pPr algn="l"/>
                <a:r>
                  <a:rPr sz="2700">
                    <a:solidFill>
                      <a:srgbClr val="152B43"/>
                    </a:solidFill>
                    <a:latin typeface="Cambria Math"/>
                  </a:rPr>
                  <a:t> </a:t>
                </a:r>
              </a:p>
            </p:txBody>
          </p:sp>
        </mc:Fallback>
      </mc:AlternateContent>
      <p:sp>
        <p:nvSpPr>
          <p:cNvPr id="6" name="Paper heading">
            <a:extLst xmlns:a="http://schemas.openxmlformats.org/drawingml/2006/main">
              <a:ext uri="{FF2B5EF4-FFF2-40B4-BE49-F238E27FC236}">
                <a16:creationId xmlns:a16="http://schemas.microsoft.com/office/drawing/2014/main" id="{C6A0B9D6-73BB-4E4B-9DDE-D0AC7919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Paper protocol</a:t>
            </a:r>
          </a:p>
        </p:txBody>
      </p:sp>
      <p:sp>
        <p:nvSpPr>
          <p:cNvPr id="7" name="Paper body">
            <a:extLst xmlns:a="http://schemas.openxmlformats.org/drawingml/2006/main">
              <a:ext uri="{FF2B5EF4-FFF2-40B4-BE49-F238E27FC236}">
                <a16:creationId xmlns:a16="http://schemas.microsoft.com/office/drawing/2014/main" id="{21E5B76C-2972-405C-9CF6-53426D0D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Main-text trajectories contain 4,096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saved samples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over 40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characteristic periods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Skew products use the larger parent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characteristic period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: about 100 samples per period.</a:t>
            </a:r>
          </a:p>
        </p:txBody>
      </p:sp>
      <p:sp>
        <p:nvSpPr>
          <p:cNvPr id="8" name="Rounding">
            <a:extLst xmlns:a="http://schemas.openxmlformats.org/drawingml/2006/main">
              <a:ext uri="{FF2B5EF4-FFF2-40B4-BE49-F238E27FC236}">
                <a16:creationId xmlns:a16="http://schemas.microsoft.com/office/drawing/2014/main" id="{0A2C4CFB-1D1C-4704-BCBC-34301D36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11049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Code detail: m = 4096 // 40 = 102. Rounding and endpoint conventions give a</a:t>
            </a:r>
          </a:p>
          <a:p xmlns:a="http://schemas.openxmlformats.org/drawingml/2006/main">
            <a:pPr>
              <a:defRPr sz="180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sampling interval</a:t>
            </a:r>
            <a:r>
              <a:rPr sz="1800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that differs slightly from a duration of exactly 40 </a:t>
            </a:r>
            <a:r>
              <a:rPr sz="180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characteristic periods</a:t>
            </a:r>
            <a:r>
              <a:rPr sz="1800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Fixed">
            <a:extLst xmlns:a="http://schemas.openxmlformats.org/drawingml/2006/main">
              <a:ext uri="{FF2B5EF4-FFF2-40B4-BE49-F238E27FC236}">
                <a16:creationId xmlns:a16="http://schemas.microsoft.com/office/drawing/2014/main" id="{BF859437-A493-49EE-B10A-6022AF73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Panda inherits the </a:t>
            </a:r>
            <a:r>
              <a:rPr sz="15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characteristic period</a:t>
            </a:r>
            <a:r>
              <a:rPr sz="157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 from dysts metadata to set its </a:t>
            </a:r>
            <a:r>
              <a:rPr sz="15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sampling times</a:t>
            </a:r>
            <a:r>
              <a:rPr sz="157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00" name="Visible source citations"/>
          <p:cNvSpPr/>
          <p:nvPr/>
        </p:nvSpPr>
        <p:spPr>
          <ns0:xfrm xmlns:ns0="http://schemas.openxmlformats.org/drawingml/2006/main">
            <ns0:off x="571500" y="6562725"/>
            <ns0:ext cx="10477500" cy="219075"/>
          </ns0:xfrm>
          <ns1:noFill xmlns:ns1="http://schemas.openxmlformats.org/drawingml/2006/main"/>
        </p:spPr>
        <p:txBody>
          <ns2:bodyPr xmlns:ns2="http://schemas.openxmlformats.org/drawingml/2006/main" lIns="0" rIns="0" tIns="0" bIns="0" wrap="none"/>
          <ns3:lstStyle xmlns:ns3="http://schemas.openxmlformats.org/drawingml/2006/main"/>
          <ns4:p xmlns:ns4="http://schemas.openxmlformats.org/drawingml/2006/main">
            <ns4:pPr marL="0" indent="0"/>
            <ns4:r>
              <ns4:rPr sz="1000" u="sng">
                <ns4:solidFill>
                  <ns4:srgbClr val="526477"/>
                </ns4:solidFill>
                <ns4:latin typeface="Arial"/>
                <ns4:hlinkClick xmlns:ns0="http://schemas.openxmlformats.org/officeDocument/2006/relationships" ns0:id="rIdSamplingCitation1"/>
              </ns4:rPr>
              <ns4:t>Panda, App. A.3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1="http://schemas.openxmlformats.org/officeDocument/2006/relationships" ns1:id="rIdSamplingCitation2"/>
              </ns4:rPr>
              <ns4:t>dysts: output grid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2="http://schemas.openxmlformats.org/officeDocument/2006/relationships" ns2:id="rIdSamplingCitation3"/>
              </ns4:rPr>
              <ns4:t>Panda: trajectory sampler</ns4:t>
            </ns4:r>
          </ns4:p>
        </p:txBody>
      </p:sp>
    </p:spTree>
    <p:extLst>
      <p:ext uri="{BB962C8B-B14F-4D97-AF65-F5344CB8AC3E}">
        <p14:creationId xmlns:p14="http://schemas.microsoft.com/office/powerpoint/2010/main" val="167851979"/>
      </p:ext>
    </p:extLst>
  </p:cSld>
</p:sld>
</file>

<file path=ppt/slides/sampling_method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908C4DBB-84D6-4E44-84B0-93D2D829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Initial integration step size: frequency screening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641B0CDE-D076-4238-A49F-4AA4DE1B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Controls heading">
            <a:extLst xmlns:a="http://schemas.openxmlformats.org/drawingml/2006/main">
              <a:ext uri="{FF2B5EF4-FFF2-40B4-BE49-F238E27FC236}">
                <a16:creationId xmlns:a16="http://schemas.microsoft.com/office/drawing/2014/main" id="{264E544C-2E42-4F04-9A7D-D9EFD046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Compare each frequency against surrogate records</a:t>
            </a:r>
          </a:p>
        </p:txBody>
      </p:sp>
      <p:sp>
        <p:nvSpPr>
          <p:cNvPr id="4" name="Controls body">
            <a:extLst xmlns:a="http://schemas.openxmlformats.org/drawingml/2006/main">
              <a:ext uri="{FF2B5EF4-FFF2-40B4-BE49-F238E27FC236}">
                <a16:creationId xmlns:a16="http://schemas.microsoft.com/office/drawing/2014/main" id="{9D944BD2-6A6A-4EB5-B177-2BA2F902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6425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The code constructs 100 random-phase controls and compares windowed spectral power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at the same frequency. Its default exceedance threshold is 0.95.</a:t>
            </a:r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209" name="Vote ratio"/>
              <p:cNvSpPr>
                <a:spLocks noGrp="1"/>
              </p:cNvSpPr>
              <p:nvPr/>
            </p:nvSpPr>
            <p:spPr>
              <a:xfrm>
                <a:off x="571500" y="3181350"/>
                <a:ext cx="11049000" cy="1047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sz="25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25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sz="25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25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sz="25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#</m:t>
                          </m:r>
                          <m:r>
                            <m:rPr>
                              <m:sty m:val="p"/>
                            </m:rPr>
                            <a:rPr sz="25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{</m:t>
                          </m:r>
                          <m:r>
                            <m:rPr>
                              <m:sty m:val="i"/>
                            </m:rPr>
                            <a:rPr sz="25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sz="25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:</m:t>
                          </m:r>
                          <m:r>
                            <m:rPr>
                              <m:sty m:val="p"/>
                            </m:rPr>
                            <a:rPr sz="25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sz="25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sz="25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sz="25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sz="25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25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sz="25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&gt;</m:t>
                          </m:r>
                          <m:sSub>
                            <m:sSubPr>
                              <m:ctrlPr>
                                <a:rPr sz="25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sz="25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sz="25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25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sz="25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sz="25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sz="25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25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sz="25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}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25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sz="25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sz="25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209" name="Vote ratio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181350"/>
                <a:ext cx="11049000" cy="1047750"/>
              </a:xfrm>
              <a:prstGeom prst="rect">
                <a:avLst/>
              </a:prstGeom>
              <a:blipFill>
                <a:blip r:embed="rIdMethodEquation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pPr algn="l"/>
                <a:r>
                  <a:rPr sz="2500">
                    <a:solidFill>
                      <a:srgbClr val="152B43"/>
                    </a:solidFill>
                    <a:latin typeface="Cambria Math"/>
                  </a:rPr>
                  <a:t> </a:t>
                </a:r>
              </a:p>
            </p:txBody>
          </p:sp>
        </mc:Fallback>
      </mc:AlternateContent>
      <p:sp>
        <p:nvSpPr>
          <p:cNvPr id="6" name="Keep">
            <a:extLst xmlns:a="http://schemas.openxmlformats.org/drawingml/2006/main">
              <a:ext uri="{FF2B5EF4-FFF2-40B4-BE49-F238E27FC236}">
                <a16:creationId xmlns:a16="http://schemas.microsoft.com/office/drawing/2014/main" id="{E7D2B1F1-9758-42A5-857A-04449157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81525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Keep a frequency when the original power exceeds at least 95 of the 100 controls.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The code also removes very low frequencies, below roughly 20 cycles per record.</a:t>
            </a:r>
          </a:p>
        </p:txBody>
      </p:sp>
      <p:sp>
        <p:nvSpPr>
          <p:cNvPr id="7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824B0B0-8F98-4AC0-B3B9-505FF026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This is the code’s surrogate-comparison criterion. It is not a cumulative-energy cutoff</a:t>
            </a:r>
          </a:p>
          <a:p xmlns:a="http://schemas.openxmlformats.org/drawingml/2006/main">
            <a: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or a statement that a frequency has a 95% probability of being “real”.</a:t>
            </a:r>
          </a:p>
        </p:txBody>
      </p:sp>
      <p:sp>
        <p:nvSpPr>
          <p:cNvPr id="100" name="Visible source citations"/>
          <p:cNvSpPr/>
          <p:nvPr/>
        </p:nvSpPr>
        <p:spPr>
          <ns0:xfrm xmlns:ns0="http://schemas.openxmlformats.org/drawingml/2006/main">
            <ns0:off x="571500" y="6562725"/>
            <ns0:ext cx="10477500" cy="219075"/>
          </ns0:xfrm>
          <ns1:noFill xmlns:ns1="http://schemas.openxmlformats.org/drawingml/2006/main"/>
        </p:spPr>
        <p:txBody>
          <ns2:bodyPr xmlns:ns2="http://schemas.openxmlformats.org/drawingml/2006/main" lIns="0" rIns="0" tIns="0" bIns="0" wrap="none"/>
          <ns3:lstStyle xmlns:ns3="http://schemas.openxmlformats.org/drawingml/2006/main"/>
          <ns4:p xmlns:ns4="http://schemas.openxmlformats.org/drawingml/2006/main">
            <ns4:pPr marL="0" indent="0"/>
            <ns4:r>
              <ns4:rPr sz="1000" u="sng">
                <ns4:solidFill>
                  <ns4:srgbClr val="526477"/>
                </ns4:solidFill>
                <ns4:latin typeface="Arial"/>
                <ns4:hlinkClick xmlns:ns0="http://schemas.openxmlformats.org/officeDocument/2006/relationships" ns0:id="rIdSamplingCitation1"/>
              </ns4:rPr>
              <ns4:t>dysts: find_significant_frequencies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1="http://schemas.openxmlformats.org/officeDocument/2006/relationships" ns1:id="rIdSamplingCitation2"/>
              </ns4:rPr>
              <ns4:t>dysts: compute_timestep</ns4:t>
            </ns4:r>
          </ns4:p>
        </p:txBody>
      </p:sp>
    </p:spTree>
    <p:extLst>
      <p:ext uri="{BB962C8B-B14F-4D97-AF65-F5344CB8AC3E}">
        <p14:creationId xmlns:p14="http://schemas.microsoft.com/office/powerpoint/2010/main" val="305562153"/>
      </p:ext>
    </p:extLst>
  </p:cSld>
</p:sld>
</file>

<file path=ppt/slides/sampling_method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8BE18DA-69A9-494F-A8D2-F6574E40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Initial integration step size: fastest frequency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8AADE38D-F391-46C1-AD9B-6BD75236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Maximum heading">
            <a:extLst xmlns:a="http://schemas.openxmlformats.org/drawingml/2006/main">
              <a:ext uri="{FF2B5EF4-FFF2-40B4-BE49-F238E27FC236}">
                <a16:creationId xmlns:a16="http://schemas.microsoft.com/office/drawing/2014/main" id="{255C22F0-2C80-4510-8A24-3BE0F175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Select the fastest retained frequency</a:t>
            </a:r>
          </a:p>
        </p:txBody>
      </p:sp>
      <p:sp>
        <p:nvSpPr>
          <p:cNvPr id="4" name="Maximum body">
            <a:extLst xmlns:a="http://schemas.openxmlformats.org/drawingml/2006/main">
              <a:ext uri="{FF2B5EF4-FFF2-40B4-BE49-F238E27FC236}">
                <a16:creationId xmlns:a16="http://schemas.microsoft.com/office/drawing/2014/main" id="{8E4EAF2E-FF04-4051-9285-2E8364E3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Take the highest retained frequency in each channel, then the maximum across channels.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Convert it to cycles per model time to compute the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initial integration step size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210" name="Maximum frequency"/>
              <p:cNvSpPr>
                <a:spLocks noGrp="1"/>
              </p:cNvSpPr>
              <p:nvPr/>
            </p:nvSpPr>
            <p:spPr>
              <a:xfrm>
                <a:off x="571500" y="3162300"/>
                <a:ext cx="5429250" cy="9906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  <m:sSub>
                        <m:sSubPr>
                          <m:ctrl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i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10" name="Maximum frequency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162300"/>
                <a:ext cx="5429250" cy="990600"/>
              </a:xfrm>
              <a:prstGeom prst="rect">
                <a:avLst/>
              </a:prstGeom>
              <a:blipFill>
                <a:blip r:embed="rIdMethodEquation10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pPr algn="l"/>
                <a:r>
                  <a:rPr sz="2600">
                    <a:solidFill>
                      <a:srgbClr val="152B43"/>
                    </a:solidFill>
                    <a:latin typeface="Cambria Math"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211" name="Initial step"/>
              <p:cNvSpPr>
                <a:spLocks noGrp="1"/>
              </p:cNvSpPr>
              <p:nvPr/>
            </p:nvSpPr>
            <p:spPr>
              <a:xfrm>
                <a:off x="6572250" y="3095625"/>
                <a:ext cx="47625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sz="2700">
                          <a:solidFill>
                            <a:srgbClr val="152B43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sz="27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0</m:t>
                          </m:r>
                          <m:sSub>
                            <m:sSubPr>
                              <m:ctrlPr>
                                <a:rPr sz="27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sz="27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27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sz="27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sz="27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x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211" name="Initial step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50" y="3095625"/>
                <a:ext cx="4762500" cy="1095375"/>
              </a:xfrm>
              <a:prstGeom prst="rect">
                <a:avLst/>
              </a:prstGeom>
              <a:blipFill>
                <a:blip r:embed="rIdMethodEquation1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pPr algn="l"/>
                <a:r>
                  <a:rPr sz="2700">
                    <a:solidFill>
                      <a:srgbClr val="152B43"/>
                    </a:solidFill>
                    <a:latin typeface="Cambria Math"/>
                  </a:rPr>
                  <a:t> </a:t>
                </a:r>
              </a:p>
            </p:txBody>
          </p:sp>
        </mc:Fallback>
      </mc:AlternateContent>
      <p:sp>
        <p:nvSpPr>
          <p:cNvPr id="7" name="Use">
            <a:extLst xmlns:a="http://schemas.openxmlformats.org/drawingml/2006/main">
              <a:ext uri="{FF2B5EF4-FFF2-40B4-BE49-F238E27FC236}">
                <a16:creationId xmlns:a16="http://schemas.microsoft.com/office/drawing/2014/main" id="{589978AF-BCEA-42C8-A6B0-111236B3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1104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The dt field sets the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initial integration step size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(first_step). Panda skew products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inherit the smaller parent dt. The solver may reject and reduce its first trial step.</a:t>
            </a:r>
          </a:p>
        </p:txBody>
      </p:sp>
      <p:sp>
        <p:nvSpPr>
          <p:cNvPr id="8" name="Scope">
            <a:extLst xmlns:a="http://schemas.openxmlformats.org/drawingml/2006/main">
              <a:ext uri="{FF2B5EF4-FFF2-40B4-BE49-F238E27FC236}">
                <a16:creationId xmlns:a16="http://schemas.microsoft.com/office/drawing/2014/main" id="{07957FC9-4A73-47EB-AFDB-D9A5E8F3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This estimate initializes integration. It sets neither the </a:t>
            </a:r>
            <a:r>
              <a:rPr sz="187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maximum integration step size</a:t>
            </a:r>
          </a:p>
          <a:p xmlns:a="http://schemas.openxmlformats.org/drawingml/2006/main">
            <a:pPr>
              <a:defRPr sz="18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nor the </a:t>
            </a:r>
            <a:r>
              <a:rPr sz="187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sampling interval</a:t>
            </a:r>
            <a:r>
              <a:rPr sz="187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. Later </a:t>
            </a:r>
            <a:r>
              <a:rPr sz="187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integration step sizes</a:t>
            </a:r>
            <a:r>
              <a:rPr sz="187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 follow adaptive error control.</a:t>
            </a:r>
          </a:p>
        </p:txBody>
      </p:sp>
      <p:sp>
        <p:nvSpPr>
          <p:cNvPr id="100" name="Visible source citations"/>
          <p:cNvSpPr/>
          <p:nvPr/>
        </p:nvSpPr>
        <p:spPr>
          <ns0:xfrm xmlns:ns0="http://schemas.openxmlformats.org/drawingml/2006/main">
            <ns0:off x="571500" y="6562725"/>
            <ns0:ext cx="10477500" cy="219075"/>
          </ns0:xfrm>
          <ns1:noFill xmlns:ns1="http://schemas.openxmlformats.org/drawingml/2006/main"/>
        </p:spPr>
        <p:txBody>
          <ns2:bodyPr xmlns:ns2="http://schemas.openxmlformats.org/drawingml/2006/main" lIns="0" rIns="0" tIns="0" bIns="0" wrap="none"/>
          <ns3:lstStyle xmlns:ns3="http://schemas.openxmlformats.org/drawingml/2006/main"/>
          <ns4:p xmlns:ns4="http://schemas.openxmlformats.org/drawingml/2006/main">
            <ns4:pPr marL="0" indent="0"/>
            <ns4:r>
              <ns4:rPr sz="1000" u="sng">
                <ns4:solidFill>
                  <ns4:srgbClr val="526477"/>
                </ns4:solidFill>
                <ns4:latin typeface="Arial"/>
                <ns4:hlinkClick xmlns:ns0="http://schemas.openxmlformats.org/officeDocument/2006/relationships" ns0:id="rIdSamplingCitation1"/>
              </ns4:rPr>
              <ns4:t>dysts: compute_timestep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1="http://schemas.openxmlformats.org/officeDocument/2006/relationships" ns1:id="rIdSamplingCitation2"/>
              </ns4:rPr>
              <ns4:t>dysts: first_step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2="http://schemas.openxmlformats.org/officeDocument/2006/relationships" ns2:id="rIdSamplingCitation3"/>
              </ns4:rPr>
              <ns4:t>Panda: inherited parent dt</ns4:t>
            </ns4:r>
          </ns4:p>
        </p:txBody>
      </p:sp>
    </p:spTree>
    <p:extLst>
      <p:ext uri="{BB962C8B-B14F-4D97-AF65-F5344CB8AC3E}">
        <p14:creationId xmlns:p14="http://schemas.microsoft.com/office/powerpoint/2010/main" val="1157251513"/>
      </p:ext>
    </p:extLst>
  </p:cSld>
</p:sld>
</file>

<file path=ppt/slides/sampling_method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578657FF-4A28-4C46-8812-6B640BE7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Adaptive integration after initialization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78FA5A6A-9D58-48C5-B5D5-090000F8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Method">
            <a:extLst xmlns:a="http://schemas.openxmlformats.org/drawingml/2006/main">
              <a:ext uri="{FF2B5EF4-FFF2-40B4-BE49-F238E27FC236}">
                <a16:creationId xmlns:a16="http://schemas.microsoft.com/office/drawing/2014/main" id="{22DE9B9D-6A19-4C84-B099-FEAF5867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Panda uses Radau, a fifth-order implicit Runge–Kutta solver.</a:t>
            </a:r>
          </a:p>
        </p:txBody>
      </p:sp>
      <p:sp>
        <p:nvSpPr>
          <p:cNvPr id="4" name="Trial heading">
            <a:extLst xmlns:a="http://schemas.openxmlformats.org/drawingml/2006/main">
              <a:ext uri="{FF2B5EF4-FFF2-40B4-BE49-F238E27FC236}">
                <a16:creationId xmlns:a16="http://schemas.microsoft.com/office/drawing/2014/main" id="{33F085E8-9C0C-4105-91C1-C22495AB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240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Trial integration step and error estimate</a:t>
            </a:r>
          </a:p>
        </p:txBody>
      </p:sp>
      <p:sp>
        <p:nvSpPr>
          <p:cNvPr id="5" name="Trial body">
            <a:extLst xmlns:a="http://schemas.openxmlformats.org/drawingml/2006/main">
              <a:ext uri="{FF2B5EF4-FFF2-40B4-BE49-F238E27FC236}">
                <a16:creationId xmlns:a16="http://schemas.microsoft.com/office/drawing/2014/main" id="{C84903F9-08AD-4D65-9D32-30596C58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Compute a candidate state and estimate its local error. Scale the error using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absolute and relative tolerances, then test whether the step is acceptable.</a:t>
            </a:r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212" name="Scaled error"/>
              <p:cNvSpPr>
                <a:spLocks noGrp="1"/>
              </p:cNvSpPr>
              <p:nvPr/>
            </p:nvSpPr>
            <p:spPr>
              <a:xfrm>
                <a:off x="571500" y="3781425"/>
                <a:ext cx="5715000" cy="9906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i"/>
                        </m:rP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‖</m:t>
                      </m:r>
                      <m:f>
                        <m:fPr>
                          <m:ctrl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e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|</m:t>
                          </m:r>
                          <m:r>
                            <m:rPr>
                              <m:sty m:val="i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|</m:t>
                          </m:r>
                        </m:den>
                      </m:f>
                      <m:r>
                        <m:rPr>
                          <m:sty m:val="p"/>
                        </m:rP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‖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12" name="Scaled error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781425"/>
                <a:ext cx="5715000" cy="990600"/>
              </a:xfrm>
              <a:prstGeom prst="rect">
                <a:avLst/>
              </a:prstGeom>
              <a:blipFill>
                <a:blip r:embed="rIdMethodEquation1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pPr algn="l"/>
                <a:r>
                  <a:rPr sz="2600">
                    <a:solidFill>
                      <a:srgbClr val="152B43"/>
                    </a:solidFill>
                    <a:latin typeface="Cambria Math"/>
                  </a:rPr>
                  <a:t> </a:t>
                </a:r>
              </a:p>
            </p:txBody>
          </p:sp>
        </mc:Fallback>
      </mc:AlternateContent>
      <p:sp>
        <p:nvSpPr>
          <p:cNvPr id="7" name="Schematic">
            <a:extLst xmlns:a="http://schemas.openxmlformats.org/drawingml/2006/main">
              <a:ext uri="{FF2B5EF4-FFF2-40B4-BE49-F238E27FC236}">
                <a16:creationId xmlns:a16="http://schemas.microsoft.com/office/drawing/2014/main" id="{916DEA6F-2B4D-4FE4-95B7-8F8AE4E5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33825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Schematic error scaling. The implementation</a:t>
            </a:r>
          </a:p>
          <a:p xmlns:a="http://schemas.openxmlformats.org/drawingml/2006/main">
            <a: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uses component-wise scales and a norm.</a:t>
            </a:r>
          </a:p>
        </p:txBody>
      </p:sp>
      <p:sp>
        <p:nvSpPr>
          <p:cNvPr id="8" name="Adapt">
            <a:extLst xmlns:a="http://schemas.openxmlformats.org/drawingml/2006/main">
              <a:ext uri="{FF2B5EF4-FFF2-40B4-BE49-F238E27FC236}">
                <a16:creationId xmlns:a16="http://schemas.microsoft.com/office/drawing/2014/main" id="{0A1D49C7-FF69-40B3-9E43-05344885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A scaled error above 1 rejects the trial and reduces the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integration step size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. Accepted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steps advance the state. Error control chooses the next size without new spectral analysis.</a:t>
            </a:r>
          </a:p>
        </p:txBody>
      </p:sp>
      <p:sp>
        <p:nvSpPr>
          <p:cNvPr id="9" name="Accuracy">
            <a:extLst xmlns:a="http://schemas.openxmlformats.org/drawingml/2006/main">
              <a:ext uri="{FF2B5EF4-FFF2-40B4-BE49-F238E27FC236}">
                <a16:creationId xmlns:a16="http://schemas.microsoft.com/office/drawing/2014/main" id="{BEE1B848-643A-46C6-9923-A88F4245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Paper tolerances: rtol = 10⁻⁹, atol = 10⁻¹⁰. A cubic interpolant evaluates states at </a:t>
            </a:r>
            <a:r>
              <a:rPr sz="165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sampling times</a:t>
            </a:r>
            <a:r>
              <a:rPr sz="165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00" name="Visible source citations"/>
          <p:cNvSpPr/>
          <p:nvPr/>
        </p:nvSpPr>
        <p:spPr>
          <ns0:xfrm xmlns:ns0="http://schemas.openxmlformats.org/drawingml/2006/main">
            <ns0:off x="571500" y="6562725"/>
            <ns0:ext cx="10477500" cy="219075"/>
          </ns0:xfrm>
          <ns1:noFill xmlns:ns1="http://schemas.openxmlformats.org/drawingml/2006/main"/>
        </p:spPr>
        <p:txBody>
          <ns2:bodyPr xmlns:ns2="http://schemas.openxmlformats.org/drawingml/2006/main" lIns="0" rIns="0" tIns="0" bIns="0" wrap="none"/>
          <ns3:lstStyle xmlns:ns3="http://schemas.openxmlformats.org/drawingml/2006/main"/>
          <ns4:p xmlns:ns4="http://schemas.openxmlformats.org/drawingml/2006/main">
            <ns4:pPr marL="0" indent="0"/>
            <ns4:r>
              <ns4:rPr sz="1000" u="sng">
                <ns4:solidFill>
                  <ns4:srgbClr val="526477"/>
                </ns4:solidFill>
                <ns4:latin typeface="Arial"/>
                <ns4:hlinkClick xmlns:ns0="http://schemas.openxmlformats.org/officeDocument/2006/relationships" ns0:id="rIdSamplingCitation1"/>
              </ns4:rPr>
              <ns4:t>Panda, App. A.3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1="http://schemas.openxmlformats.org/officeDocument/2006/relationships" ns1:id="rIdSamplingCitation2"/>
              </ns4:rPr>
              <ns4:t>SciPy Radau and solve_ivp</ns4:t>
            </ns4:r>
          </ns4:p>
        </p:txBody>
      </p:sp>
    </p:spTree>
    <p:extLst>
      <p:ext uri="{BB962C8B-B14F-4D97-AF65-F5344CB8AC3E}">
        <p14:creationId xmlns:p14="http://schemas.microsoft.com/office/powerpoint/2010/main" val="1774695549"/>
      </p:ext>
    </p:extLst>
  </p:cSld>
</p:sld>
</file>

<file path=ppt/slides/sampling_method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B61896C-B26E-4FD9-8465-DEE534C0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Sampling interval and multiscale resolution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3F20240E-C181-4DF8-AA8C-19D432CD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Concern">
            <a:extLst xmlns:a="http://schemas.openxmlformats.org/drawingml/2006/main">
              <a:ext uri="{FF2B5EF4-FFF2-40B4-BE49-F238E27FC236}">
                <a16:creationId xmlns:a16="http://schemas.microsoft.com/office/drawing/2014/main" id="{1EE96E56-BB78-48D9-8A35-0AD9EC18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A </a:t>
            </a: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characteristic period</a:t>
            </a: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 can reflect slow motion while faster fluctuations remain.</a:t>
            </a:r>
          </a:p>
        </p:txBody>
      </p:sp>
      <mc:AlternateContent xmlns:mc="http://schemas.openxmlformats.org/markup-compatibility/2006" xmlns:a="http://schemas.openxmlformats.org/drawingml/2006/main" xmlns:r="http://schemas.openxmlformats.org/officeDocument/2006/relationships">
        <mc:Choice xmlns:a14="http://schemas.microsoft.com/office/drawing/2010/main" Requires="a14">
          <p:sp>
            <p:nvSpPr>
              <p:cNvPr id="213" name="Example signal"/>
              <p:cNvSpPr>
                <a:spLocks noGrp="1"/>
              </p:cNvSpPr>
              <p:nvPr/>
            </p:nvSpPr>
            <p:spPr>
              <a:xfrm>
                <a:off x="571500" y="2143125"/>
                <a:ext cx="11049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i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i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3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2</m:t>
                      </m:r>
                      <m:r>
                        <m:rPr>
                          <m:sty m:val="i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π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·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.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2</m:t>
                      </m:r>
                      <m:r>
                        <m:rPr>
                          <m:sty m:val="i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2</m:t>
                      </m:r>
                      <m:r>
                        <m:rPr>
                          <m:sty m:val="i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π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·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i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sz="2500">
                          <a:solidFill>
                            <a:srgbClr val="152B4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13" name="Example signal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2143125"/>
                <a:ext cx="11049000" cy="714375"/>
              </a:xfrm>
              <a:prstGeom prst="rect">
                <a:avLst/>
              </a:prstGeom>
              <a:blipFill>
                <a:blip r:embed="rIdMethodEquation1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pPr algn="l"/>
                <a:r>
                  <a:rPr sz="2500">
                    <a:solidFill>
                      <a:srgbClr val="152B43"/>
                    </a:solidFill>
                    <a:latin typeface="Cambria Math"/>
                  </a:rPr>
                  <a:t> </a:t>
                </a:r>
              </a:p>
            </p:txBody>
          </p:sp>
        </mc:Fallback>
      </mc:AlternateContent>
      <p:sp>
        <p:nvSpPr>
          <p:cNvPr id="5" name="Example">
            <a:extLst xmlns:a="http://schemas.openxmlformats.org/drawingml/2006/main">
              <a:ext uri="{FF2B5EF4-FFF2-40B4-BE49-F238E27FC236}">
                <a16:creationId xmlns:a16="http://schemas.microsoft.com/office/drawing/2014/main" id="{8E7667EA-9431-4C05-BD96-DD03B48B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Illustrative example</a:t>
            </a:r>
          </a:p>
          <a:p xmlns:a="http://schemas.openxmlformats.org/drawingml/2006/main">
            <a: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Slow component period: 5</a:t>
            </a:r>
          </a:p>
          <a:p xmlns:a="http://schemas.openxmlformats.org/drawingml/2006/main">
            <a: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Fast component period: 0.05</a:t>
            </a:r>
          </a:p>
          <a:p xmlns:a="http://schemas.openxmlformats.org/drawingml/2006/main">
            <a: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With m = 100:</a:t>
            </a:r>
          </a:p>
          <a:p xmlns:a="http://schemas.openxmlformats.org/drawingml/2006/main">
            <a: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Characteristic period</a:t>
            </a:r>
            <a:r>
              <a:rPr sz="1950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≈ 5</a:t>
            </a:r>
          </a:p>
          <a:p xmlns:a="http://schemas.openxmlformats.org/drawingml/2006/main">
            <a:pPr>
              <a:defRPr sz="1950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Sampling interval</a:t>
            </a:r>
            <a:r>
              <a:rPr sz="1950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≈ 0.05.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83809-1E20-452A-A125-1E39302590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244e464df4897"/>
          <a:stretch xmlns:a="http://schemas.openxmlformats.org/drawingml/2006/main"/>
        </p:blipFill>
        <p:spPr>
          <a:xfrm xmlns:a="http://schemas.openxmlformats.org/drawingml/2006/main">
            <a:off x="6235745" y="2905125"/>
            <a:ext cx="4911634" cy="2686050"/>
          </a:xfrm>
          <a:prstGeom xmlns:a="http://schemas.openxmlformats.org/drawingml/2006/main" prst="rect">
            <a:avLst/>
          </a:prstGeom>
        </p:spPr>
      </p:pic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5DF75BE7-EA02-4936-9616-CC4C08DD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4525"/>
            <a:ext cx="1104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Saved samples</a:t>
            </a:r>
            <a:r>
              <a:rPr sz="18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 may miss fast fluctuations at this </a:t>
            </a:r>
            <a:r>
              <a:rPr sz="18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sampling interval</a:t>
            </a:r>
            <a:r>
              <a:rPr sz="18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.</a:t>
            </a:r>
          </a:p>
          <a:p xmlns:a="http://schemas.openxmlformats.org/drawingml/2006/main">
            <a:pPr>
              <a:defRPr sz="18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This example motivates a bandwidth criterion. It does not establish failure on Panda’s data.</a:t>
            </a:r>
          </a:p>
        </p:txBody>
      </p:sp>
      <p:sp>
        <p:nvSpPr>
          <p:cNvPr id="100" name="Visible source citations"/>
          <p:cNvSpPr/>
          <p:nvPr/>
        </p:nvSpPr>
        <p:spPr>
          <ns0:xfrm xmlns:ns0="http://schemas.openxmlformats.org/drawingml/2006/main">
            <ns0:off x="571500" y="6562725"/>
            <ns0:ext cx="10477500" cy="219075"/>
          </ns0:xfrm>
          <ns1:noFill xmlns:ns1="http://schemas.openxmlformats.org/drawingml/2006/main"/>
        </p:spPr>
        <p:txBody>
          <ns2:bodyPr xmlns:ns2="http://schemas.openxmlformats.org/drawingml/2006/main" lIns="0" rIns="0" tIns="0" bIns="0" wrap="none"/>
          <ns3:lstStyle xmlns:ns3="http://schemas.openxmlformats.org/drawingml/2006/main"/>
          <ns4:p xmlns:ns4="http://schemas.openxmlformats.org/drawingml/2006/main">
            <ns4:pPr marL="0" indent="0"/>
            <ns4:r>
              <ns4:rPr sz="1000" u="sng">
                <ns4:solidFill>
                  <ns4:srgbClr val="526477"/>
                </ns4:solidFill>
                <ns4:latin typeface="Arial"/>
                <ns4:hlinkClick xmlns:ns0="http://schemas.openxmlformats.org/officeDocument/2006/relationships" ns0:id="rIdSamplingCitation1"/>
              </ns4:rPr>
              <ns4:t>Interpretation of period alignment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1="http://schemas.openxmlformats.org/officeDocument/2006/relationships" ns1:id="rIdSamplingCitation2"/>
              </ns4:rPr>
              <ns4:t>Panda sampling protocol</ns4:t>
            </ns4:r>
          </ns4:p>
        </p:txBody>
      </p:sp>
    </p:spTree>
    <p:extLst>
      <p:ext uri="{BB962C8B-B14F-4D97-AF65-F5344CB8AC3E}">
        <p14:creationId xmlns:p14="http://schemas.microsoft.com/office/powerpoint/2010/main" val="1145782738"/>
      </p:ext>
    </p:extLst>
  </p:cSld>
</p:sld>
</file>

<file path=ppt/slides/sampling_method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02C8FB7C-056E-4A60-98B4-7A105642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Our spectral bandwidth and sampling choices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89B9A0CD-8E91-4AB9-B934-E4F21A70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Spectrum heading">
            <a:extLst xmlns:a="http://schemas.openxmlformats.org/drawingml/2006/main">
              <a:ext uri="{FF2B5EF4-FFF2-40B4-BE49-F238E27FC236}">
                <a16:creationId xmlns:a16="http://schemas.microsoft.com/office/drawing/2014/main" id="{B2EE3783-A160-4528-A82B-A286E450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Reference spectrum from dense calibration</a:t>
            </a:r>
          </a:p>
        </p:txBody>
      </p:sp>
      <p:sp>
        <p:nvSpPr>
          <p:cNvPr id="4" name="Spectrum body">
            <a:extLst xmlns:a="http://schemas.openxmlformats.org/drawingml/2006/main">
              <a:ext uri="{FF2B5EF4-FFF2-40B4-BE49-F238E27FC236}">
                <a16:creationId xmlns:a16="http://schemas.microsoft.com/office/drawing/2014/main" id="{ED5DF997-3AA3-4BF1-98F6-05586D5E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6425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Compute NumPy rFFT directly on the calibration states, with no Gaussian smoothing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or explicit window. Use one-sided weights and exclude DC from AC-energy fractions.</a:t>
            </a:r>
          </a:p>
        </p:txBody>
      </p:sp>
      <p:sp>
        <p:nvSpPr>
          <p:cNvPr id="5" name="Threshold heading">
            <a:extLst xmlns:a="http://schemas.openxmlformats.org/drawingml/2006/main">
              <a:ext uri="{FF2B5EF4-FFF2-40B4-BE49-F238E27FC236}">
                <a16:creationId xmlns:a16="http://schemas.microsoft.com/office/drawing/2014/main" id="{78B4390E-C1C1-441F-BE99-3B62DFFB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Bandwidth threshold and </a:t>
            </a: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sampling interval</a:t>
            </a:r>
          </a:p>
        </p:txBody>
      </p:sp>
      <p:sp>
        <p:nvSpPr>
          <p:cNvPr id="6" name="Threshold body">
            <a:extLst xmlns:a="http://schemas.openxmlformats.org/drawingml/2006/main">
              <a:ext uri="{FF2B5EF4-FFF2-40B4-BE49-F238E27FC236}">
                <a16:creationId xmlns:a16="http://schemas.microsoft.com/office/drawing/2014/main" id="{298DE4AD-4FE5-4379-A5B3-5FF49372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33775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Choose the lowest frequency containing 99% of each channel’s AC energy.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Use 32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saved samples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per calibrated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bandwidth period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for slow/state channels.</a:t>
            </a:r>
          </a:p>
        </p:txBody>
      </p:sp>
      <p:sp>
        <p:nvSpPr>
          <p:cNvPr id="7" name="Aggregation heading">
            <a:extLst xmlns:a="http://schemas.openxmlformats.org/drawingml/2006/main">
              <a:ext uri="{FF2B5EF4-FFF2-40B4-BE49-F238E27FC236}">
                <a16:creationId xmlns:a16="http://schemas.microsoft.com/office/drawing/2014/main" id="{B80D4685-CF0B-469E-808B-6D357463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Aggregate within each channel group</a:t>
            </a:r>
          </a:p>
        </p:txBody>
      </p:sp>
      <p:sp>
        <p:nvSpPr>
          <p:cNvPr id="8" name="Aggregation body">
            <a:extLst xmlns:a="http://schemas.openxmlformats.org/drawingml/2006/main">
              <a:ext uri="{FF2B5EF4-FFF2-40B4-BE49-F238E27FC236}">
                <a16:creationId xmlns:a16="http://schemas.microsoft.com/office/drawing/2014/main" id="{79992975-ECA0-4114-8151-DC76F81D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A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bandwidth period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is the reciprocal of the bandwidth frequency. Take group medians.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Freeze these periods per family and configuration. This differs from dysts’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characteristic period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00" name="Visible source citations"/>
          <p:cNvSpPr/>
          <p:nvPr/>
        </p:nvSpPr>
        <p:spPr>
          <ns0:xfrm xmlns:ns0="http://schemas.openxmlformats.org/drawingml/2006/main">
            <ns0:off x="571500" y="6562725"/>
            <ns0:ext cx="10477500" cy="219075"/>
          </ns0:xfrm>
          <ns1:noFill xmlns:ns1="http://schemas.openxmlformats.org/drawingml/2006/main"/>
        </p:spPr>
        <p:txBody>
          <ns2:bodyPr xmlns:ns2="http://schemas.openxmlformats.org/drawingml/2006/main" lIns="0" rIns="0" tIns="0" bIns="0" wrap="none"/>
          <ns3:lstStyle xmlns:ns3="http://schemas.openxmlformats.org/drawingml/2006/main"/>
          <ns4:p xmlns:ns4="http://schemas.openxmlformats.org/drawingml/2006/main">
            <ns4:pPr marL="0" indent="0"/>
            <ns4:r>
              <ns4:rPr sz="1000">
                <ns4:solidFill>
                  <ns4:srgbClr val="526477"/>
                </ns4:solidFill>
                <ns4:latin typeface="Arial"/>
              </ns4:rPr>
              <ns4:t>Project code: src/data/sampling_interval/</ns4:t>
            </ns4:r>
            <ns4:r>
              <ns4:rPr sz="1000"/>
              <ns4:t>      </ns4:t>
            </ns4:r>
            <ns4:r>
              <ns4:rPr sz="1000">
                <ns4:solidFill>
                  <ns4:srgbClr val="526477"/>
                </ns4:solidFill>
                <ns4:latin typeface="Arial"/>
              </ns4:rPr>
              <ns4:t>Dataset specification: data/lorenz96_benchmark/README.md</ns4:t>
            </ns4:r>
          </ns4:p>
        </p:txBody>
      </p:sp>
    </p:spTree>
    <p:extLst>
      <p:ext uri="{BB962C8B-B14F-4D97-AF65-F5344CB8AC3E}">
        <p14:creationId xmlns:p14="http://schemas.microsoft.com/office/powerpoint/2010/main" val="2051197870"/>
      </p:ext>
    </p:extLst>
  </p:cSld>
</p:sld>
</file>

<file path=ppt/slides/sampling_method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7D0EC2C-A78F-4A0C-BF42-AF124EAF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Our numerical integration interface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BF47133F-3CBB-4AEC-A17B-92C33DBD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Solver heading">
            <a:extLst xmlns:a="http://schemas.openxmlformats.org/drawingml/2006/main">
              <a:ext uri="{FF2B5EF4-FFF2-40B4-BE49-F238E27FC236}">
                <a16:creationId xmlns:a16="http://schemas.microsoft.com/office/drawing/2014/main" id="{120EBE23-4364-4832-A136-3170C74B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DOP853 selects the </a:t>
            </a: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initial integration step size</a:t>
            </a:r>
          </a:p>
        </p:txBody>
      </p:sp>
      <p:sp>
        <p:nvSpPr>
          <p:cNvPr id="4" name="Solver body">
            <a:extLst xmlns:a="http://schemas.openxmlformats.org/drawingml/2006/main">
              <a:ext uri="{FF2B5EF4-FFF2-40B4-BE49-F238E27FC236}">
                <a16:creationId xmlns:a16="http://schemas.microsoft.com/office/drawing/2014/main" id="{9643C0A5-593A-40C9-BE72-917703C6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Eighth-order explicit Runge–Kutta. Default tolerances: rtol = 10⁻⁸, atol = 10⁻¹⁰.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With first_step omitted, SciPy estimates the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initial integration step size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automatically.</a:t>
            </a:r>
          </a:p>
        </p:txBody>
      </p:sp>
      <p:sp>
        <p:nvSpPr>
          <p:cNvPr id="5" name="Adaptive heading">
            <a:extLst xmlns:a="http://schemas.openxmlformats.org/drawingml/2006/main">
              <a:ext uri="{FF2B5EF4-FFF2-40B4-BE49-F238E27FC236}">
                <a16:creationId xmlns:a16="http://schemas.microsoft.com/office/drawing/2014/main" id="{85BC2997-06B0-408D-9B80-DCC8BE2D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765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Adaptive error control and interpolation</a:t>
            </a:r>
          </a:p>
        </p:txBody>
      </p:sp>
      <p:sp>
        <p:nvSpPr>
          <p:cNvPr id="6" name="Adaptive body">
            <a:extLst xmlns:a="http://schemas.openxmlformats.org/drawingml/2006/main">
              <a:ext uri="{FF2B5EF4-FFF2-40B4-BE49-F238E27FC236}">
                <a16:creationId xmlns:a16="http://schemas.microsoft.com/office/drawing/2014/main" id="{C740AB4F-E7FB-4B3C-B433-4434BBA4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Embedded error estimates control rejection and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integration step size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updates.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A seventh-order interpolant evaluates states at the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sampling times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(t_eval).</a:t>
            </a:r>
          </a:p>
        </p:txBody>
      </p:sp>
      <p:sp>
        <p:nvSpPr>
          <p:cNvPr id="7" name="Cap heading">
            <a:extLst xmlns:a="http://schemas.openxmlformats.org/drawingml/2006/main">
              <a:ext uri="{FF2B5EF4-FFF2-40B4-BE49-F238E27FC236}">
                <a16:creationId xmlns:a16="http://schemas.microsoft.com/office/drawing/2014/main" id="{93B19880-7F18-42A8-886D-1304738D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3392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Configurable </a:t>
            </a:r>
            <a:r>
              <a:rPr sz="210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maximum integration step size</a:t>
            </a:r>
          </a:p>
        </p:txBody>
      </p:sp>
      <p:sp>
        <p:nvSpPr>
          <p:cNvPr id="8" name="Cap body">
            <a:extLst xmlns:a="http://schemas.openxmlformats.org/drawingml/2006/main">
              <a:ext uri="{FF2B5EF4-FFF2-40B4-BE49-F238E27FC236}">
                <a16:creationId xmlns:a16="http://schemas.microsoft.com/office/drawing/2014/main" id="{650C8664-B7CF-4BC4-8D39-A41937F3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By default, max_step equals sample_dt: the </a:t>
            </a: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maximum integration step size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 equals the</a:t>
            </a:r>
          </a:p>
          <a:p xmlns:a="http://schemas.openxmlformats.org/drawingml/2006/main">
            <a:pPr>
              <a:defRPr sz="1875" b="0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sampling interval</a:t>
            </a:r>
            <a:r>
              <a:rPr sz="1875" b="0">
                <a:solidFill>
                  <a:srgbClr val="152B43"/>
                </a:solidFill>
                <a:latin typeface="Arial"/>
                <a:ea typeface="Arial"/>
                <a:cs typeface="Arial"/>
              </a:rPr>
              <a:t>. An override changes this cap. Steps remain adaptive and need not align.</a:t>
            </a:r>
          </a:p>
        </p:txBody>
      </p:sp>
      <p:sp>
        <p:nvSpPr>
          <p:cNvPr id="100" name="Visible source citations"/>
          <p:cNvSpPr/>
          <p:nvPr/>
        </p:nvSpPr>
        <p:spPr>
          <ns0:xfrm xmlns:ns0="http://schemas.openxmlformats.org/drawingml/2006/main">
            <ns0:off x="571500" y="6562725"/>
            <ns0:ext cx="10477500" cy="219075"/>
          </ns0:xfrm>
          <ns1:noFill xmlns:ns1="http://schemas.openxmlformats.org/drawingml/2006/main"/>
        </p:spPr>
        <p:txBody>
          <ns2:bodyPr xmlns:ns2="http://schemas.openxmlformats.org/drawingml/2006/main" lIns="0" rIns="0" tIns="0" bIns="0" wrap="none"/>
          <ns3:lstStyle xmlns:ns3="http://schemas.openxmlformats.org/drawingml/2006/main"/>
          <ns4:p xmlns:ns4="http://schemas.openxmlformats.org/drawingml/2006/main">
            <ns4:pPr marL="0" indent="0"/>
            <ns4:r>
              <ns4:rPr sz="1000">
                <ns4:solidFill>
                  <ns4:srgbClr val="526477"/>
                </ns4:solidFill>
                <ns4:latin typeface="Arial"/>
              </ns4:rPr>
              <ns4:t>Project code: src/data/lorenz96/simulate.py</ns4:t>
            </ns4:r>
            <ns4:r>
              <ns4:rPr sz="1000"/>
              <ns4:t>      </ns4:t>
            </ns4:r>
            <ns4:r>
              <ns4:rPr sz="1000" u="sng">
                <ns4:solidFill>
                  <ns4:srgbClr val="526477"/>
                </ns4:solidFill>
                <ns4:latin typeface="Arial"/>
                <ns4:hlinkClick xmlns:ns0="http://schemas.openxmlformats.org/officeDocument/2006/relationships" ns0:id="rIdSamplingCitation2"/>
              </ns4:rPr>
              <ns4:t>SciPy DOP853 and solve_ivp</ns4:t>
            </ns4:r>
          </ns4:p>
        </p:txBody>
      </p:sp>
    </p:spTree>
    <p:extLst>
      <p:ext uri="{BB962C8B-B14F-4D97-AF65-F5344CB8AC3E}">
        <p14:creationId xmlns:p14="http://schemas.microsoft.com/office/powerpoint/2010/main" val="1895120797"/>
      </p:ext>
    </p:extLst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A3CA284-86BE-45CC-9CF9-A390FA815AE2}"/>
              </a:ext>
            </a:extLst>
          </p:cNvPr>
          <p:cNvSpPr>
            <a:spLocks noGrp="1"/>
          </p:cNvSpPr>
          <p:nvPr/>
        </p:nvSpPr>
        <p:spPr>
          <a:xfrm>
            <a:off x="552450" y="409575"/>
            <a:ext cx="110871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52B43"/>
                </a:solidFill>
              </a:defRPr>
            </a:defPPr>
          </a:lstStyle>
          <a:p>
            <a:pPr>
              <a:defRPr sz="3150" b="1">
                <a:solidFill>
                  <a:srgbClr val="152B43"/>
                </a:solidFill>
              </a:defRPr>
            </a:pPr>
            <a:r>
              <a:rPr sz="3150" b="1">
                <a:solidFill>
                  <a:srgbClr val="152B43"/>
                </a:solidFill>
              </a:rPr>
              <a:t>Fluctuation-energy sampling algorithm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5B96F7-EAE9-4A72-BDDF-3E2B78728CD5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26477"/>
                </a:solidFill>
              </a:defRPr>
            </a:defPPr>
          </a:lstStyle>
          <a:p>
            <a:pPr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E17558-669C-4281-A0AA-D040E13F60F7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0"/>
                </a:solidFill>
              </a:defRPr>
            </a:defPPr>
          </a:lstStyle>
          <a:p>
            <a:pPr>
              <a:defRPr sz="2175" b="1">
                <a:solidFill>
                  <a:srgbClr val="007D80"/>
                </a:solidFill>
              </a:defRPr>
            </a:pPr>
            <a:r>
              <a:rPr sz="2175" b="1">
                <a:solidFill>
                  <a:srgbClr val="007D80"/>
                </a:solidFill>
              </a:rPr>
              <a:t>1   Estimate the spectrum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ED250F-8D53-4114-9522-20E910BE3D15}"/>
              </a:ext>
            </a:extLst>
          </p:cNvPr>
          <p:cNvSpPr>
            <a:spLocks noGrp="1"/>
          </p:cNvSpPr>
          <p:nvPr/>
        </p:nvSpPr>
        <p:spPr>
          <a:xfrm>
            <a:off x="571500" y="2057400"/>
            <a:ext cx="5238750" cy="1238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52B43"/>
                </a:solidFill>
              </a:defRPr>
            </a:defPPr>
          </a:lstStyle>
          <a:p>
            <a:pPr>
              <a:defRPr sz="2025" b="0">
                <a:solidFill>
                  <a:srgbClr val="152B43"/>
                </a:solidFill>
              </a:defRPr>
            </a:pPr>
            <a:r>
              <a:rPr sz="2025" b="0">
                <a:solidFill>
                  <a:srgbClr val="152B43"/>
                </a:solidFill>
              </a:rPr>
              <a:t>For each channel, FFT a densely sampled trajectory. Use one-sided energy Eₖ proportional to |FFTₖ|², excluding DC.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6440A-721C-4888-B8ED-967AB65FDFFD}"/>
              </a:ext>
            </a:extLst>
          </p:cNvPr>
          <p:cNvSpPr>
            <a:spLocks noGrp="1"/>
          </p:cNvSpPr>
          <p:nvPr/>
        </p:nvSpPr>
        <p:spPr>
          <a:xfrm>
            <a:off x="571500" y="35814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0"/>
                </a:solidFill>
              </a:defRPr>
            </a:defPPr>
          </a:lstStyle>
          <a:p>
            <a:pPr>
              <a:defRPr sz="2175" b="1">
                <a:solidFill>
                  <a:srgbClr val="007D80"/>
                </a:solidFill>
              </a:defRPr>
            </a:pPr>
            <a:r>
              <a:rPr sz="2175" b="1">
                <a:solidFill>
                  <a:srgbClr val="007D80"/>
                </a:solidFill>
              </a:rPr>
              <a:t>2   Select the retained-energy cutoff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A1045D-C477-4E1A-8B03-1CE86A50148A}"/>
              </a:ext>
            </a:extLst>
          </p:cNvPr>
          <p:cNvSpPr>
            <a:spLocks noGrp="1"/>
          </p:cNvSpPr>
          <p:nvPr/>
        </p:nvSpPr>
        <p:spPr>
          <a:xfrm>
            <a:off x="571500" y="4133850"/>
            <a:ext cx="52387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52B43"/>
                </a:solidFill>
              </a:defRPr>
            </a:defPPr>
          </a:lstStyle>
          <a:p>
            <a:pPr>
              <a:defRPr sz="2025" b="0">
                <a:solidFill>
                  <a:srgbClr val="152B43"/>
                </a:solidFill>
              </a:defRPr>
            </a:pPr>
            <a:r>
              <a:rPr sz="2025" b="0">
                <a:solidFill>
                  <a:srgbClr val="152B43"/>
                </a:solidFill>
              </a:rPr>
              <a:t>Choose the smallest frequency fα whose cumulative non-DC energy reaches α of the total.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D730B62-9555-4628-A1DA-BB1D85A7BD7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429375" y="1619250"/>
                <a:ext cx="5191125" cy="1190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𝐶</m:t>
                      </m:r>
                      <m: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(</m:t>
                      </m:r>
                      <m: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𝑓</m:t>
                      </m:r>
                      <m: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sz="2600" i="1">
                              <a:solidFill>
                                <a:srgbClr val="152B4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sz="2600" i="1">
                                  <a:solidFill>
                                    <a:srgbClr val="152B4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sz="26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0&lt;</m:t>
                              </m:r>
                              <m:sSub>
                                <m:sSubPr>
                                  <m:ctrlPr>
                                    <a:rPr sz="2600" i="1">
                                      <a:solidFill>
                                        <a:srgbClr val="152B4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600">
                                      <a:solidFill>
                                        <a:srgbClr val="152B43"/>
                                      </a:solidFill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sz="2600">
                                      <a:solidFill>
                                        <a:srgbClr val="152B43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sz="26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≤</m:t>
                              </m:r>
                              <m:r>
                                <a:rPr sz="26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sub>
                            <m:sup>
                              <m:r>
                                <a:rPr sz="26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​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sz="2600" i="1">
                                      <a:solidFill>
                                        <a:srgbClr val="152B4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600">
                                      <a:solidFill>
                                        <a:srgbClr val="152B43"/>
                                      </a:solidFill>
                                      <a:latin typeface="Cambria Math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sz="2600">
                                      <a:solidFill>
                                        <a:srgbClr val="152B43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sz="2600" i="1">
                                  <a:solidFill>
                                    <a:srgbClr val="152B4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sz="2600" i="1">
                                      <a:solidFill>
                                        <a:srgbClr val="152B4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600">
                                      <a:solidFill>
                                        <a:srgbClr val="152B43"/>
                                      </a:solidFill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sz="2600">
                                      <a:solidFill>
                                        <a:srgbClr val="152B43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sz="26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&gt;0</m:t>
                              </m:r>
                            </m:sub>
                            <m:sup>
                              <m:r>
                                <a:rPr sz="26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​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sz="2600" i="1">
                                      <a:solidFill>
                                        <a:srgbClr val="152B4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600">
                                      <a:solidFill>
                                        <a:srgbClr val="152B43"/>
                                      </a:solidFill>
                                      <a:latin typeface="Cambria Math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sz="2600">
                                      <a:solidFill>
                                        <a:srgbClr val="152B43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D730B62-9555-4628-A1DA-BB1D85A7BD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5" y="1619250"/>
                <a:ext cx="5191125" cy="1190625"/>
              </a:xfrm>
              <a:prstGeom prst="rect">
                <a:avLst/>
              </a:prstGeom>
              <a:blipFill>
                <a:blip r:embed="rId2"/>
                <a:stretch>
                  <a:fillRect l="-489" t="-55789" b="-6421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3D2A720-BD0B-4BB7-9E0E-92DDF12B2EB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429375" y="2933700"/>
                <a:ext cx="5191125" cy="5715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600">
                              <a:solidFill>
                                <a:srgbClr val="152B4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𝛼</m:t>
                          </m:r>
                        </m:sub>
                      </m:sSub>
                      <m: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min</m:t>
                      </m:r>
                      <m: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{</m:t>
                      </m:r>
                      <m: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𝑓</m:t>
                      </m:r>
                      <m: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:</m:t>
                      </m:r>
                      <m: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𝐶</m:t>
                      </m:r>
                      <m: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(</m:t>
                      </m:r>
                      <m: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𝑓</m:t>
                      </m:r>
                      <m: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)≥</m:t>
                      </m:r>
                      <m: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𝛼</m:t>
                      </m:r>
                      <m: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3D2A720-BD0B-4BB7-9E0E-92DDF12B2E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5" y="2933700"/>
                <a:ext cx="5191125" cy="571500"/>
              </a:xfrm>
              <a:prstGeom prst="rect">
                <a:avLst/>
              </a:prstGeom>
              <a:blipFill>
                <a:blip r:embed="rId3"/>
                <a:stretch>
                  <a:fillRect l="-1222" b="-217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9270CAF-9B77-4960-9CD1-D3F3C5841EC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429375" y="3771900"/>
                <a:ext cx="2571750" cy="762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152B43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600">
                              <a:solidFill>
                                <a:srgbClr val="152B4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𝛼</m:t>
                          </m:r>
                        </m:sub>
                      </m:sSub>
                      <m:r>
                        <a:rPr sz="2600">
                          <a:solidFill>
                            <a:srgbClr val="152B43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2600" i="1">
                              <a:solidFill>
                                <a:srgbClr val="152B4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600">
                              <a:solidFill>
                                <a:srgbClr val="152B43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sz="2600" i="1">
                                  <a:solidFill>
                                    <a:srgbClr val="152B4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6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sz="2600">
                                  <a:solidFill>
                                    <a:srgbClr val="152B43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9270CAF-9B77-4960-9CD1-D3F3C5841E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5" y="3771900"/>
                <a:ext cx="2571750" cy="762000"/>
              </a:xfrm>
              <a:prstGeom prst="rect">
                <a:avLst/>
              </a:prstGeom>
              <a:blipFill>
                <a:blip r:embed="rId4"/>
                <a:stretch>
                  <a:fillRect l="-985" b="-3114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F5B01B3-A340-4C4F-A7D6-329317EF00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429375" y="4724400"/>
                <a:ext cx="5191125" cy="809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400" b="1">
                    <a:solidFill>
                      <a:srgbClr val="007D80"/>
                    </a:solidFill>
                  </a:defRPr>
                </a:def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sz="2600">
                          <a:solidFill>
                            <a:srgbClr val="007D80"/>
                          </a:solidFill>
                          <a:latin typeface="Cambria Math"/>
                        </a:rPr>
                        <m:t>Δ</m:t>
                      </m:r>
                      <m:r>
                        <a:rPr sz="2600">
                          <a:solidFill>
                            <a:srgbClr val="007D80"/>
                          </a:solidFill>
                          <a:latin typeface="Cambria Math"/>
                        </a:rPr>
                        <m:t>𝑡</m:t>
                      </m:r>
                      <m:r>
                        <a:rPr sz="2600">
                          <a:solidFill>
                            <a:srgbClr val="007D8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2600" i="1">
                              <a:solidFill>
                                <a:srgbClr val="007D8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2600" i="1">
                                  <a:solidFill>
                                    <a:srgbClr val="007D8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600">
                                  <a:solidFill>
                                    <a:srgbClr val="007D80"/>
                                  </a:solidFill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sz="2600">
                                  <a:solidFill>
                                    <a:srgbClr val="007D80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r>
                            <a:rPr sz="2600">
                              <a:solidFill>
                                <a:srgbClr val="007D80"/>
                              </a:solidFill>
                              <a:latin typeface="Cambria Math"/>
                            </a:rPr>
                            <m:t>𝑚</m:t>
                          </m:r>
                        </m:den>
                      </m:f>
                      <m:r>
                        <a:rPr sz="2600">
                          <a:solidFill>
                            <a:srgbClr val="007D8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2600" i="1">
                              <a:solidFill>
                                <a:srgbClr val="007D8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600">
                              <a:solidFill>
                                <a:srgbClr val="007D8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2600">
                              <a:solidFill>
                                <a:srgbClr val="007D80"/>
                              </a:solidFill>
                              <a:latin typeface="Cambria Math"/>
                            </a:rPr>
                            <m:t>𝑚</m:t>
                          </m:r>
                          <m:sSub>
                            <m:sSubPr>
                              <m:ctrlPr>
                                <a:rPr sz="2600" i="1">
                                  <a:solidFill>
                                    <a:srgbClr val="007D8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600">
                                  <a:solidFill>
                                    <a:srgbClr val="007D80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sz="2600">
                                  <a:solidFill>
                                    <a:srgbClr val="007D80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F5B01B3-A340-4C4F-A7D6-329317EF00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75" y="4724400"/>
                <a:ext cx="5191125" cy="809625"/>
              </a:xfrm>
              <a:prstGeom prst="rect">
                <a:avLst/>
              </a:prstGeom>
              <a:blipFill>
                <a:blip r:embed="rId5"/>
                <a:stretch>
                  <a:fillRect l="-489" b="-250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EB073AA6-822B-42F0-8706-A3DD5F35B46C}"/>
              </a:ext>
            </a:extLst>
          </p:cNvPr>
          <p:cNvSpPr>
            <a:spLocks noGrp="1"/>
          </p:cNvSpPr>
          <p:nvPr/>
        </p:nvSpPr>
        <p:spPr>
          <a:xfrm>
            <a:off x="571500" y="5629275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26477"/>
                </a:solidFill>
              </a:defRPr>
            </a:defPPr>
          </a:lstStyle>
          <a:p>
            <a:pPr>
              <a:defRPr sz="1800" b="0">
                <a:solidFill>
                  <a:srgbClr val="526477"/>
                </a:solidFill>
              </a:defRPr>
            </a:pPr>
            <a:r>
              <a:rPr sz="1800" b="0">
                <a:solidFill>
                  <a:srgbClr val="526477"/>
                </a:solidFill>
              </a:rPr>
              <a:t>Hyperparameters: α = 0.99 (empirical choice) and m = </a:t>
            </a:r>
            <a:r>
              <a:rPr sz="1800" b="1">
                <a:solidFill>
                  <a:srgbClr val="152B43"/>
                </a:solidFill>
              </a:rPr>
              <a:t>saved samples</a:t>
            </a:r>
            <a:r>
              <a:rPr sz="1800" b="0">
                <a:solidFill>
                  <a:srgbClr val="526477"/>
                </a:solidFill>
              </a:rPr>
              <a:t> per </a:t>
            </a:r>
            <a:r>
              <a:rPr sz="1800" b="1">
                <a:solidFill>
                  <a:srgbClr val="152B43"/>
                </a:solidFill>
              </a:rPr>
              <a:t>bandwidth period</a:t>
            </a:r>
          </a:p>
        </p:txBody>
      </p:sp>
    </p:spTree>
    <p:extLst>
      <p:ext uri="{BB962C8B-B14F-4D97-AF65-F5344CB8AC3E}">
        <p14:creationId xmlns:p14="http://schemas.microsoft.com/office/powerpoint/2010/main" val="1165458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98F4BF7-A9D3-4014-8E54-8791917973D9}"/>
              </a:ext>
            </a:extLst>
          </p:cNvPr>
          <p:cNvSpPr>
            <a:spLocks noGrp="1"/>
          </p:cNvSpPr>
          <p:nvPr/>
        </p:nvSpPr>
        <p:spPr>
          <a:xfrm>
            <a:off x="552450" y="409575"/>
            <a:ext cx="110871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52B43"/>
                </a:solidFill>
              </a:defRPr>
            </a:defPPr>
          </a:lstStyle>
          <a:p>
            <a:pPr>
              <a:defRPr sz="3150" b="1">
                <a:solidFill>
                  <a:srgbClr val="152B43"/>
                </a:solidFill>
              </a:defRPr>
            </a:pPr>
            <a:r>
              <a:rPr sz="3150" b="1">
                <a:solidFill>
                  <a:srgbClr val="152B43"/>
                </a:solidFill>
              </a:rPr>
              <a:t>Spectral evidence: slow and fast channels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F3FA4A-F1F6-4EAD-95B4-0303EECF1CDC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26477"/>
                </a:solidFill>
              </a:defRPr>
            </a:defPPr>
          </a:lstStyle>
          <a:p>
            <a:pPr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15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C13893-6EF3-4163-B83E-A3C3907BA1A1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52B43"/>
                </a:solidFill>
              </a:defRPr>
            </a:defPPr>
          </a:lstStyle>
          <a:p>
            <a:pPr>
              <a:defRPr sz="2100" b="1">
                <a:solidFill>
                  <a:srgbClr val="152B43"/>
                </a:solidFill>
              </a:defRPr>
            </a:pPr>
            <a:r>
              <a:rPr sz="2100" b="1">
                <a:solidFill>
                  <a:srgbClr val="152B43"/>
                </a:solidFill>
              </a:rPr>
              <a:t>Slow variable X[0]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F8606D-93CA-46AB-99FB-1D6FF1567DA5}"/>
              </a:ext>
            </a:extLst>
          </p:cNvPr>
          <p:cNvSpPr>
            <a:spLocks noGrp="1"/>
          </p:cNvSpPr>
          <p:nvPr/>
        </p:nvSpPr>
        <p:spPr>
          <a:xfrm>
            <a:off x="6334125" y="1428750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52B43"/>
                </a:solidFill>
              </a:defRPr>
            </a:defPPr>
          </a:lstStyle>
          <a:p>
            <a:pPr>
              <a:defRPr sz="2100" b="1">
                <a:solidFill>
                  <a:srgbClr val="152B43"/>
                </a:solidFill>
              </a:defRPr>
            </a:pPr>
            <a:r>
              <a:rPr sz="2100" b="1">
                <a:solidFill>
                  <a:srgbClr val="152B43"/>
                </a:solidFill>
              </a:rPr>
              <a:t>Fast variable Y[0,0]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8FBA37-BCCB-4EB6-BFB4-989E6E788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71500" y="2255316"/>
            <a:ext cx="5286375" cy="21092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6465D5-5745-45E1-9E4B-2DE876275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34125" y="2281847"/>
            <a:ext cx="5286375" cy="20561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CC2A307-6CC3-45B0-824B-8740301F89FE}"/>
              </a:ext>
            </a:extLst>
          </p:cNvPr>
          <p:cNvSpPr>
            <a:spLocks noGrp="1"/>
          </p:cNvSpPr>
          <p:nvPr/>
        </p:nvSpPr>
        <p:spPr>
          <a:xfrm>
            <a:off x="571500" y="4867275"/>
            <a:ext cx="5286375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07D80"/>
                </a:solidFill>
              </a:defRPr>
            </a:defPPr>
          </a:lstStyle>
          <a:p>
            <a:pPr>
              <a:defRPr sz="1875" b="1">
                <a:solidFill>
                  <a:srgbClr val="007D80"/>
                </a:solidFill>
              </a:defRPr>
            </a:pPr>
            <a:r>
              <a:rPr sz="1875" b="1">
                <a:solidFill>
                  <a:srgbClr val="007D80"/>
                </a:solidFill>
              </a:rPr>
              <a:t>99% cutoff ≈ 2.11 cycles / model time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A0BE59-250F-4206-A278-061B84E3A478}"/>
              </a:ext>
            </a:extLst>
          </p:cNvPr>
          <p:cNvSpPr>
            <a:spLocks noGrp="1"/>
          </p:cNvSpPr>
          <p:nvPr/>
        </p:nvSpPr>
        <p:spPr>
          <a:xfrm>
            <a:off x="6334125" y="4867275"/>
            <a:ext cx="5286375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007D80"/>
                </a:solidFill>
              </a:defRPr>
            </a:defPPr>
          </a:lstStyle>
          <a:p>
            <a:pPr>
              <a:defRPr sz="1875" b="1">
                <a:solidFill>
                  <a:srgbClr val="007D80"/>
                </a:solidFill>
              </a:defRPr>
            </a:pPr>
            <a:r>
              <a:rPr sz="1875" b="1">
                <a:solidFill>
                  <a:srgbClr val="007D80"/>
                </a:solidFill>
              </a:rPr>
              <a:t>99% cutoff ≈ 10.49 cycles / model time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A6BA92-437C-4EB5-98A9-DF02C7F6C4F6}"/>
              </a:ext>
            </a:extLst>
          </p:cNvPr>
          <p:cNvSpPr>
            <a:spLocks noGrp="1"/>
          </p:cNvSpPr>
          <p:nvPr/>
        </p:nvSpPr>
        <p:spPr>
          <a:xfrm>
            <a:off x="571500" y="5619750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52B43"/>
                </a:solidFill>
              </a:defRPr>
            </a:defPPr>
          </a:lstStyle>
          <a:p>
            <a:pPr>
              <a:defRPr sz="2100" b="1">
                <a:solidFill>
                  <a:srgbClr val="152B43"/>
                </a:solidFill>
              </a:defRPr>
            </a:pPr>
            <a:r>
              <a:rPr sz="2100" b="1">
                <a:solidFill>
                  <a:srgbClr val="152B43"/>
                </a:solidFill>
              </a:rPr>
              <a:t>The fast-channel cutoff is about 5× higher in this example.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9B514F-FE72-476F-BE7C-46CABD3B7DCA}"/>
              </a:ext>
            </a:extLst>
          </p:cNvPr>
          <p:cNvSpPr>
            <a:spLocks noGrp="1"/>
          </p:cNvSpPr>
          <p:nvPr/>
        </p:nvSpPr>
        <p:spPr>
          <a:xfrm>
            <a:off x="571500" y="611505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526477"/>
                </a:solidFill>
              </a:defRPr>
            </a:defPPr>
          </a:lstStyle>
          <a:p>
            <a:pPr>
              <a:defRPr sz="1500" b="0">
                <a:solidFill>
                  <a:srgbClr val="526477"/>
                </a:solidFill>
              </a:defRPr>
            </a:pPr>
            <a:r>
              <a:rPr sz="1500" b="0">
                <a:solidFill>
                  <a:srgbClr val="526477"/>
                </a:solidFill>
              </a:rPr>
              <a:t>Cumulative energy and −3 dB amplitude/power thresholds define different cutoffs.</a:t>
            </a:r>
          </a:p>
        </p:txBody>
      </p:sp>
    </p:spTree>
    <p:extLst>
      <p:ext uri="{BB962C8B-B14F-4D97-AF65-F5344CB8AC3E}">
        <p14:creationId xmlns:p14="http://schemas.microsoft.com/office/powerpoint/2010/main" val="1331379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417A3B4-2684-40E1-B171-2330CC3C4731}"/>
              </a:ext>
            </a:extLst>
          </p:cNvPr>
          <p:cNvSpPr>
            <a:spLocks noGrp="1"/>
          </p:cNvSpPr>
          <p:nvPr/>
        </p:nvSpPr>
        <p:spPr>
          <a:xfrm>
            <a:off x="552450" y="409575"/>
            <a:ext cx="110871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52B43"/>
                </a:solidFill>
              </a:defRPr>
            </a:defPPr>
          </a:lstStyle>
          <a:p>
            <a:pPr>
              <a:defRPr sz="3150" b="1">
                <a:solidFill>
                  <a:srgbClr val="152B43"/>
                </a:solidFill>
              </a:defRPr>
            </a:pPr>
            <a:r>
              <a:rPr sz="3150" b="1">
                <a:solidFill>
                  <a:srgbClr val="152B43"/>
                </a:solidFill>
              </a:rPr>
              <a:t>Lorenz–96 benchmark: baseline split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CEE051-97EA-41EC-B7D1-BAC3A276E172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26477"/>
                </a:solidFill>
              </a:defRPr>
            </a:defPPr>
          </a:lstStyle>
          <a:p>
            <a:pPr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17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EF69AE-099A-432D-AEA1-35AE012DBA7E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0"/>
                </a:solidFill>
              </a:defRPr>
            </a:defPPr>
          </a:lstStyle>
          <a:p>
            <a:pPr>
              <a:defRPr sz="2175" b="1">
                <a:solidFill>
                  <a:srgbClr val="007D80"/>
                </a:solidFill>
              </a:defRPr>
            </a:pPr>
            <a:r>
              <a:rPr sz="2175" b="1">
                <a:solidFill>
                  <a:srgbClr val="007D80"/>
                </a:solidFill>
              </a:rPr>
              <a:t>K = 9    J = 8    hₓ = −0.8    hᵧ = 1    F = 10    ε = 2⁻⁷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46CCE2-33BF-47CD-BA96-B66893700C24}"/>
              </a:ext>
            </a:extLst>
          </p:cNvPr>
          <p:cNvGraphicFramePr/>
          <p:nvPr/>
        </p:nvGraphicFramePr>
        <p:xfrm>
          <a:off x="571500" y="2276475"/>
          <a:ext cx="11049000" cy="240030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Split</a:t>
                      </a:r>
                    </a:p>
                  </a:txBody>
                  <a:tcPr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>
                      <a:solidFill>
                        <a:srgbClr val="D4DEE5"/>
                      </a:solidFill>
                      <a:prstDash val="soli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Trajectory pairs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>
                      <a:solidFill>
                        <a:srgbClr val="D4DEE5"/>
                      </a:solidFill>
                      <a:prstDash val="soli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>
                      <a:solidFill>
                        <a:srgbClr val="D4DEE5"/>
                      </a:solidFill>
                      <a:prstDash val="soli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Training</a:t>
                      </a:r>
                    </a:p>
                  </a:txBody>
                  <a:tcPr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32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Fit model parameters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Validation</a:t>
                      </a:r>
                    </a:p>
                  </a:txBody>
                  <a:tcPr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8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Select model / hyperparameters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Test A</a:t>
                      </a:r>
                    </a:p>
                  </a:txBody>
                  <a:tcPr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16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New trajectories at training configuration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D33BD57-BAC9-4C79-9F74-B9E8366723C1}"/>
              </a:ext>
            </a:extLst>
          </p:cNvPr>
          <p:cNvSpPr>
            <a:spLocks noGrp="1"/>
          </p:cNvSpPr>
          <p:nvPr/>
        </p:nvSpPr>
        <p:spPr>
          <a:xfrm>
            <a:off x="571500" y="5019675"/>
            <a:ext cx="1100137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52B43"/>
                </a:solidFill>
              </a:defRPr>
            </a:defPPr>
          </a:lstStyle>
          <a:p>
            <a:pPr>
              <a:defRPr sz="2100" b="1">
                <a:solidFill>
                  <a:srgbClr val="152B43"/>
                </a:solidFill>
              </a:defRPr>
            </a:pPr>
            <a:r>
              <a:rPr sz="2100" b="1">
                <a:solidFill>
                  <a:srgbClr val="152B43"/>
                </a:solidFill>
              </a:rPr>
              <a:t>Each pair contains a multiscale and a single-scale trajectory.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963470-C9C9-407E-A5CD-64F60E309F0F}"/>
              </a:ext>
            </a:extLst>
          </p:cNvPr>
          <p:cNvSpPr>
            <a:spLocks noGrp="1"/>
          </p:cNvSpPr>
          <p:nvPr/>
        </p:nvSpPr>
        <p:spPr>
          <a:xfrm>
            <a:off x="571500" y="596265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26477"/>
                </a:solidFill>
              </a:defRPr>
            </a:defPPr>
          </a:lstStyle>
          <a:p>
            <a:pPr>
              <a:defRPr sz="1725" b="0">
                <a:solidFill>
                  <a:srgbClr val="526477"/>
                </a:solidFill>
              </a:defRPr>
            </a:pPr>
            <a:r>
              <a:rPr sz="1725" b="0">
                <a:solidFill>
                  <a:srgbClr val="526477"/>
                </a:solidFill>
              </a:rPr>
              <a:t>Independent trajectory pairs; 50 model time units of spin-up.</a:t>
            </a:r>
          </a:p>
        </p:txBody>
      </p:sp>
      <p:sp>
        <p:nvSpPr>
          <p:cNvPr id="8" name="Single-scale GP closure"/>
          <p:cNvSpPr>
            <a:spLocks noGrp="1"/>
          </p:cNvSpPr>
          <p:nvPr/>
        </p:nvSpPr>
        <p:spPr>
          <a:xfrm>
            <a:off x="571500" y="548640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26477"/>
                </a:solidFill>
              </a:defRPr>
            </a:defPPr>
          </a:lstStyle>
          <a:p>
            <a:pPr>
              <a:defRPr sz="1800" b="0">
                <a:solidFill>
                  <a:srgbClr val="526477"/>
                </a:solidFill>
              </a:defRPr>
            </a:pPr>
            <a:r>
              <a:rPr sz="1800" b="0">
                <a:solidFill>
                  <a:srgbClr val="526477"/>
                </a:solidFill>
              </a:rPr>
              <a:t>Single-scale dynamics retain fast-variable influence through a frozen instantaneous GP closure.</a:t>
            </a:r>
          </a:p>
        </p:txBody>
      </p:sp>
    </p:spTree>
    <p:extLst>
      <p:ext uri="{BB962C8B-B14F-4D97-AF65-F5344CB8AC3E}">
        <p14:creationId xmlns:p14="http://schemas.microsoft.com/office/powerpoint/2010/main" val="2143151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738900-81F0-483D-831C-40EA67572DAA}"/>
              </a:ext>
            </a:extLst>
          </p:cNvPr>
          <p:cNvSpPr>
            <a:spLocks noGrp="1"/>
          </p:cNvSpPr>
          <p:nvPr/>
        </p:nvSpPr>
        <p:spPr>
          <a:xfrm>
            <a:off x="552450" y="409575"/>
            <a:ext cx="110871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52B43"/>
                </a:solidFill>
              </a:defRPr>
            </a:defPPr>
          </a:lstStyle>
          <a:p>
            <a:pPr>
              <a:defRPr sz="3150" b="1">
                <a:solidFill>
                  <a:srgbClr val="152B43"/>
                </a:solidFill>
              </a:defRPr>
            </a:pPr>
            <a:r>
              <a:rPr sz="3150" b="1">
                <a:solidFill>
                  <a:srgbClr val="152B43"/>
                </a:solidFill>
              </a:rPr>
              <a:t>Test B: one-parameter generalization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1288DF-AC66-498F-A046-AC795F73CA80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26477"/>
                </a:solidFill>
              </a:defRPr>
            </a:defPPr>
          </a:lstStyle>
          <a:p>
            <a:pPr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732EC0-F1AE-4D9B-970D-EC7778BAA039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526477"/>
                </a:solidFill>
              </a:defRPr>
            </a:defPPr>
          </a:lstStyle>
          <a:p>
            <a:pPr>
              <a:defRPr sz="2025" b="0">
                <a:solidFill>
                  <a:srgbClr val="526477"/>
                </a:solidFill>
              </a:defRPr>
            </a:pPr>
            <a:r>
              <a:rPr sz="2025" b="0">
                <a:solidFill>
                  <a:srgbClr val="526477"/>
                </a:solidFill>
              </a:rPr>
              <a:t>Change one parameter at a time. Keep all other baseline parameters fixed.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0AD2B2-0029-43EB-A7FC-BB5CEBB05BDA}"/>
              </a:ext>
            </a:extLst>
          </p:cNvPr>
          <p:cNvGraphicFramePr/>
          <p:nvPr/>
        </p:nvGraphicFramePr>
        <p:xfrm>
          <a:off x="571500" y="2257425"/>
          <a:ext cx="11049000" cy="310515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Varied parameter</a:t>
                      </a:r>
                    </a:p>
                  </a:txBody>
                  <a:tcPr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>
                      <a:solidFill>
                        <a:srgbClr val="D4DEE5"/>
                      </a:solidFill>
                      <a:prstDash val="soli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>
                      <a:solidFill>
                        <a:srgbClr val="D4DEE5"/>
                      </a:solidFill>
                      <a:prstDash val="soli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Test B value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>
                      <a:solidFill>
                        <a:srgbClr val="D4DEE5"/>
                      </a:solidFill>
                      <a:prstDash val="soli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Pairs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>
                      <a:solidFill>
                        <a:srgbClr val="D4DEE5"/>
                      </a:solidFill>
                      <a:prstDash val="soli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K</a:t>
                      </a:r>
                    </a:p>
                  </a:txBody>
                  <a:tcPr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9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18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J</a:t>
                      </a:r>
                    </a:p>
                  </a:txBody>
                  <a:tcPr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8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16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hₓ</a:t>
                      </a:r>
                    </a:p>
                  </a:txBody>
                  <a:tcPr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−0.8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−1.2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hᵧ</a:t>
                      </a:r>
                    </a:p>
                  </a:txBody>
                  <a:tcPr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1.4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F</a:t>
                      </a:r>
                    </a:p>
                  </a:txBody>
                  <a:tcPr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14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9F92A47-344B-441F-A2D3-7DFDAF3B9742}"/>
              </a:ext>
            </a:extLst>
          </p:cNvPr>
          <p:cNvSpPr>
            <a:spLocks noGrp="1"/>
          </p:cNvSpPr>
          <p:nvPr/>
        </p:nvSpPr>
        <p:spPr>
          <a:xfrm>
            <a:off x="571500" y="5657850"/>
            <a:ext cx="4953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007D80"/>
                </a:solidFill>
              </a:defRPr>
            </a:defPPr>
          </a:lstStyle>
          <a:p>
            <a:pPr>
              <a:defRPr sz="2550" b="1">
                <a:solidFill>
                  <a:srgbClr val="007D80"/>
                </a:solidFill>
              </a:defRPr>
            </a:pPr>
            <a:r>
              <a:rPr sz="2550" b="1">
                <a:solidFill>
                  <a:srgbClr val="007D80"/>
                </a:solidFill>
              </a:rPr>
              <a:t>20 Test B pairs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FE80A4-73C7-4F1A-B03D-8E47DEDD0147}"/>
              </a:ext>
            </a:extLst>
          </p:cNvPr>
          <p:cNvSpPr>
            <a:spLocks noGrp="1"/>
          </p:cNvSpPr>
          <p:nvPr/>
        </p:nvSpPr>
        <p:spPr>
          <a:xfrm>
            <a:off x="5619750" y="5657850"/>
            <a:ext cx="59055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152B43"/>
                </a:solidFill>
              </a:defRPr>
            </a:defPPr>
          </a:lstStyle>
          <a:p>
            <a:pPr>
              <a:defRPr sz="2400" b="1">
                <a:solidFill>
                  <a:srgbClr val="152B43"/>
                </a:solidFill>
              </a:defRPr>
            </a:pPr>
            <a:r>
              <a:rPr sz="2400" b="1">
                <a:solidFill>
                  <a:srgbClr val="152B43"/>
                </a:solidFill>
              </a:rPr>
              <a:t>76 pairs across the full benchmark</a:t>
            </a:r>
          </a:p>
        </p:txBody>
      </p:sp>
    </p:spTree>
    <p:extLst>
      <p:ext uri="{BB962C8B-B14F-4D97-AF65-F5344CB8AC3E}">
        <p14:creationId xmlns:p14="http://schemas.microsoft.com/office/powerpoint/2010/main" val="1886701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914E6B7-5992-4D12-9F81-910E1A69EC09}"/>
              </a:ext>
            </a:extLst>
          </p:cNvPr>
          <p:cNvSpPr>
            <a:spLocks noGrp="1"/>
          </p:cNvSpPr>
          <p:nvPr/>
        </p:nvSpPr>
        <p:spPr>
          <a:xfrm>
            <a:off x="552450" y="409575"/>
            <a:ext cx="110871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52B43"/>
                </a:solidFill>
              </a:defRPr>
            </a:defPPr>
          </a:lstStyle>
          <a:p>
            <a:pPr>
              <a:defRPr sz="3150" b="1">
                <a:solidFill>
                  <a:srgbClr val="152B43"/>
                </a:solidFill>
              </a:defRPr>
            </a:pPr>
            <a:r>
              <a:rPr sz="3150" b="1">
                <a:solidFill>
                  <a:srgbClr val="152B43"/>
                </a:solidFill>
              </a:rPr>
              <a:t>Calibration before retained sampling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7C14B3-6BBB-49D5-8B67-34B6751B76A0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26477"/>
                </a:solidFill>
              </a:defRPr>
            </a:defPPr>
          </a:lstStyle>
          <a:p>
            <a:pPr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19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A0CD7C-5011-4D39-BD36-DB1D0941ABE3}"/>
              </a:ext>
            </a:extLst>
          </p:cNvPr>
          <p:cNvSpPr>
            <a:spLocks noGrp="1"/>
          </p:cNvSpPr>
          <p:nvPr/>
        </p:nvSpPr>
        <p:spPr>
          <a:xfrm>
            <a:off x="571500" y="1543050"/>
            <a:ext cx="2952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007D80"/>
                </a:solidFill>
              </a:defRPr>
            </a:defPPr>
          </a:lstStyle>
          <a:p>
            <a:pPr>
              <a:defRPr sz="2250" b="1">
                <a:solidFill>
                  <a:srgbClr val="007D80"/>
                </a:solidFill>
              </a:defRPr>
            </a:pPr>
            <a:r>
              <a:rPr sz="2250" b="1">
                <a:solidFill>
                  <a:srgbClr val="007D80"/>
                </a:solidFill>
              </a:rPr>
              <a:t>Spin-up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21F57A-0111-46BF-9077-9740BD99C1F0}"/>
              </a:ext>
            </a:extLst>
          </p:cNvPr>
          <p:cNvSpPr>
            <a:spLocks noGrp="1"/>
          </p:cNvSpPr>
          <p:nvPr/>
        </p:nvSpPr>
        <p:spPr>
          <a:xfrm>
            <a:off x="571500" y="2124075"/>
            <a:ext cx="3095625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52B43"/>
                </a:solidFill>
              </a:defRPr>
            </a:defPPr>
          </a:lstStyle>
          <a:p>
            <a:pPr>
              <a:defRPr sz="2025" b="0">
                <a:solidFill>
                  <a:srgbClr val="152B43"/>
                </a:solidFill>
              </a:defRPr>
            </a:pPr>
            <a:r>
              <a:rPr sz="2025" b="0">
                <a:solidFill>
                  <a:srgbClr val="152B43"/>
                </a:solidFill>
              </a:rPr>
              <a:t>Run for 50 model time units. Discard this segment before retaining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118517-1559-46EA-841D-E721D1B78143}"/>
              </a:ext>
            </a:extLst>
          </p:cNvPr>
          <p:cNvSpPr>
            <a:spLocks noGrp="1"/>
          </p:cNvSpPr>
          <p:nvPr/>
        </p:nvSpPr>
        <p:spPr>
          <a:xfrm>
            <a:off x="4381500" y="1543050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007D80"/>
                </a:solidFill>
              </a:defRPr>
            </a:defPPr>
          </a:lstStyle>
          <a:p>
            <a:pPr>
              <a:defRPr sz="2250" b="1">
                <a:solidFill>
                  <a:srgbClr val="007D80"/>
                </a:solidFill>
              </a:defRPr>
            </a:pPr>
            <a:r>
              <a:rPr sz="2250" b="1">
                <a:solidFill>
                  <a:srgbClr val="007D80"/>
                </a:solidFill>
              </a:rPr>
              <a:t>Separate calibration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D2C7A7-AD92-4290-8131-AD77EDD53BE2}"/>
              </a:ext>
            </a:extLst>
          </p:cNvPr>
          <p:cNvSpPr>
            <a:spLocks noGrp="1"/>
          </p:cNvSpPr>
          <p:nvPr/>
        </p:nvSpPr>
        <p:spPr>
          <a:xfrm>
            <a:off x="4381500" y="2124075"/>
            <a:ext cx="3333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52B43"/>
                </a:solidFill>
              </a:defRPr>
            </a:defPPr>
          </a:lstStyle>
          <a:p>
            <a:pPr>
              <a:defRPr sz="2025" b="0">
                <a:solidFill>
                  <a:srgbClr val="152B43"/>
                </a:solidFill>
              </a:defRPr>
            </a:pPr>
            <a:r>
              <a:rPr sz="2025" b="0">
                <a:solidFill>
                  <a:srgbClr val="152B43"/>
                </a:solidFill>
              </a:rPr>
              <a:t>Use one independent dense calibration per family and configuration (12 total), separate from forecasting data.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88AA8-2CC3-474B-A829-BD47125C85E5}"/>
              </a:ext>
            </a:extLst>
          </p:cNvPr>
          <p:cNvSpPr>
            <a:spLocks noGrp="1"/>
          </p:cNvSpPr>
          <p:nvPr/>
        </p:nvSpPr>
        <p:spPr>
          <a:xfrm>
            <a:off x="8382000" y="1543050"/>
            <a:ext cx="3238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007D80"/>
                </a:solidFill>
              </a:defRPr>
            </a:defPPr>
          </a:lstStyle>
          <a:p>
            <a:pPr>
              <a:defRPr sz="2250" b="1">
                <a:solidFill>
                  <a:srgbClr val="007D80"/>
                </a:solidFill>
              </a:defRPr>
            </a:pPr>
            <a:r>
              <a:rPr sz="2250" b="1">
                <a:solidFill>
                  <a:srgbClr val="007D80"/>
                </a:solidFill>
              </a:rPr>
              <a:t>Frozen </a:t>
            </a:r>
            <a:r>
              <a:rPr sz="2250" b="1">
                <a:solidFill>
                  <a:srgbClr val="007D80"/>
                </a:solidFill>
              </a:rPr>
              <a:t>sampling times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4D788-4D26-45C5-A60B-26BF8535204C}"/>
              </a:ext>
            </a:extLst>
          </p:cNvPr>
          <p:cNvSpPr>
            <a:spLocks noGrp="1"/>
          </p:cNvSpPr>
          <p:nvPr/>
        </p:nvSpPr>
        <p:spPr>
          <a:xfrm>
            <a:off x="8382000" y="2124075"/>
            <a:ext cx="31432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52B43"/>
                </a:solidFill>
              </a:defRPr>
            </a:defPPr>
          </a:lstStyle>
          <a:p>
            <a:pPr>
              <a:defRPr sz="2025" b="0">
                <a:solidFill>
                  <a:srgbClr val="152B43"/>
                </a:solidFill>
              </a:defRPr>
            </a:pPr>
            <a:r>
              <a:rPr sz="2025" b="0">
                <a:solidFill>
                  <a:srgbClr val="152B43"/>
                </a:solidFill>
              </a:rPr>
              <a:t>Freeze the </a:t>
            </a:r>
            <a:r>
              <a:rPr sz="2025" b="1">
                <a:solidFill>
                  <a:srgbClr val="152B43"/>
                </a:solidFill>
              </a:rPr>
              <a:t>sampling interval</a:t>
            </a:r>
            <a:r>
              <a:rPr sz="2025" b="0">
                <a:solidFill>
                  <a:srgbClr val="152B43"/>
                </a:solidFill>
              </a:rPr>
              <a:t> per family and configuration. Reuse it across forecasting trajectories.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21DA7D-D43B-4788-99CE-D40BB4068102}"/>
              </a:ext>
            </a:extLst>
          </p:cNvPr>
          <p:cNvSpPr>
            <a:spLocks noGrp="1"/>
          </p:cNvSpPr>
          <p:nvPr/>
        </p:nvSpPr>
        <p:spPr>
          <a:xfrm>
            <a:off x="571500" y="4105275"/>
            <a:ext cx="11049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152B43"/>
                </a:solidFill>
              </a:defRPr>
            </a:defPPr>
          </a:lstStyle>
          <a:p>
            <a:pPr>
              <a:defRPr sz="2250" b="1">
                <a:solidFill>
                  <a:srgbClr val="152B43"/>
                </a:solidFill>
              </a:defRPr>
            </a:pPr>
            <a:r>
              <a:rPr sz="2250" b="1">
                <a:solidFill>
                  <a:srgbClr val="152B43"/>
                </a:solidFill>
              </a:rPr>
              <a:t>Median </a:t>
            </a:r>
            <a:r>
              <a:rPr sz="2250" b="1">
                <a:solidFill>
                  <a:srgbClr val="152B43"/>
                </a:solidFill>
              </a:rPr>
              <a:t>bandwidth periods</a:t>
            </a:r>
            <a:r>
              <a:rPr sz="2250" b="1">
                <a:solidFill>
                  <a:srgbClr val="152B43"/>
                </a:solidFill>
              </a:rPr>
              <a:t> define slow and fast resolution scales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A23E380-E89F-4617-AD51-3AC9DD19EAD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4791075"/>
                <a:ext cx="4667250" cy="9525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250" b="0">
                    <a:solidFill>
                      <a:srgbClr val="152B43"/>
                    </a:solidFill>
                  </a:defRPr>
                </a:def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sz="2400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sz="240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median</m:t>
                          </m:r>
                        </m:e>
                        <m:sub>
                          <m:r>
                            <a:rPr sz="2400">
                              <a:latin typeface="Cambria Math"/>
                            </a:rPr>
                            <m:t>𝑐</m:t>
                          </m:r>
                          <m:r>
                            <a:rPr sz="2400">
                              <a:latin typeface="Cambria Math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slow</m:t>
                          </m:r>
                        </m:sub>
                      </m:sSub>
                      <m:d>
                        <m:d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240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400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sz="2400">
                                      <a:latin typeface="Cambria Math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A23E380-E89F-4617-AD51-3AC9DD19EA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4791075"/>
                <a:ext cx="4667250" cy="952500"/>
              </a:xfrm>
              <a:prstGeom prst="rect">
                <a:avLst/>
              </a:prstGeom>
              <a:blipFill>
                <a:blip r:embed="rId2"/>
                <a:stretch>
                  <a:fillRect l="-27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2C850FD-DA8C-456D-98B5-EE29708F877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334125" y="4791075"/>
                <a:ext cx="4667250" cy="9525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250" b="0">
                    <a:solidFill>
                      <a:srgbClr val="152B43"/>
                    </a:solidFill>
                  </a:defRPr>
                </a:def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sz="2400"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sz="240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median</m:t>
                          </m:r>
                        </m:e>
                        <m:sub>
                          <m:r>
                            <a:rPr sz="2400">
                              <a:latin typeface="Cambria Math"/>
                            </a:rPr>
                            <m:t>𝑐</m:t>
                          </m:r>
                          <m:r>
                            <a:rPr sz="2400">
                              <a:latin typeface="Cambria Math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fast</m:t>
                          </m:r>
                        </m:sub>
                      </m:sSub>
                      <m:d>
                        <m:d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240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2400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sz="2400">
                                      <a:latin typeface="Cambria Math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2C850FD-DA8C-456D-98B5-EE29708F87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125" y="4791075"/>
                <a:ext cx="4667250" cy="952500"/>
              </a:xfrm>
              <a:prstGeom prst="rect">
                <a:avLst/>
              </a:prstGeom>
              <a:blipFill>
                <a:blip r:embed="rId3"/>
                <a:stretch>
                  <a:fillRect l="-27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66F0375-06B8-478E-927B-AFB29A7AC381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26477"/>
                </a:solidFill>
              </a:defRPr>
            </a:defPPr>
          </a:lstStyle>
          <a:p>
            <a:pPr>
              <a:defRPr sz="1725" b="0">
                <a:solidFill>
                  <a:srgbClr val="526477"/>
                </a:solidFill>
              </a:defRPr>
            </a:pPr>
            <a:r>
              <a:rPr sz="1725" b="0">
                <a:solidFill>
                  <a:srgbClr val="526477"/>
                </a:solidFill>
              </a:rPr>
              <a:t>Training, validation, and Test A share baseline </a:t>
            </a:r>
            <a:r>
              <a:rPr sz="1725" b="1">
                <a:solidFill>
                  <a:srgbClr val="152B43"/>
                </a:solidFill>
              </a:rPr>
              <a:t>sampling times</a:t>
            </a:r>
            <a:r>
              <a:rPr sz="1725" b="0">
                <a:solidFill>
                  <a:srgbClr val="526477"/>
                </a:solidFill>
              </a:rPr>
              <a:t> within each family.</a:t>
            </a:r>
          </a:p>
        </p:txBody>
      </p:sp>
    </p:spTree>
    <p:extLst>
      <p:ext uri="{BB962C8B-B14F-4D97-AF65-F5344CB8AC3E}">
        <p14:creationId xmlns:p14="http://schemas.microsoft.com/office/powerpoint/2010/main" val="630439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57A9A5-B429-460E-946B-9B9FD4624B9C}"/>
              </a:ext>
            </a:extLst>
          </p:cNvPr>
          <p:cNvSpPr>
            <a:spLocks noGrp="1"/>
          </p:cNvSpPr>
          <p:nvPr/>
        </p:nvSpPr>
        <p:spPr>
          <a:xfrm>
            <a:off x="552450" y="409575"/>
            <a:ext cx="110871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52B43"/>
                </a:solidFill>
              </a:defRPr>
            </a:defPPr>
          </a:lstStyle>
          <a:p>
            <a:pPr>
              <a:defRPr sz="3150" b="1">
                <a:solidFill>
                  <a:srgbClr val="152B43"/>
                </a:solidFill>
              </a:defRPr>
            </a:pPr>
            <a:r>
              <a:rPr sz="3150" b="1">
                <a:solidFill>
                  <a:srgbClr val="152B43"/>
                </a:solidFill>
              </a:rPr>
              <a:t>A shared fine grid resolves the fast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48B985-461D-4F83-8309-915E72EFAAAE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26477"/>
                </a:solidFill>
              </a:defRPr>
            </a:defPPr>
          </a:lstStyle>
          <a:p>
            <a:pPr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1F5D35-1CFF-484D-A65D-434FA3BE5F5C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007D80"/>
                </a:solidFill>
              </a:defRPr>
            </a:defPPr>
          </a:lstStyle>
          <a:p>
            <a:pPr>
              <a:defRPr sz="2250" b="1">
                <a:solidFill>
                  <a:srgbClr val="007D80"/>
                </a:solidFill>
              </a:defRPr>
            </a:pPr>
            <a:r>
              <a:rPr sz="2250" b="1">
                <a:solidFill>
                  <a:srgbClr val="007D80"/>
                </a:solidFill>
              </a:rPr>
              <a:t>Slow observation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9EF2BA-9821-419F-8402-3B5D2FA0D2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2095500"/>
                <a:ext cx="4857750" cy="809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250" b="0">
                    <a:solidFill>
                      <a:srgbClr val="152B43"/>
                    </a:solidFill>
                  </a:defRPr>
                </a:def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>
                              <a:latin typeface="Cambria Math"/>
                            </a:rPr>
                            <m:t>𝑁</m:t>
                          </m:r>
                        </m:e>
                        <m:sub>
                          <m:r>
                            <a:rPr sz="2400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sz="2400">
                          <a:latin typeface="Cambria Math"/>
                        </a:rPr>
                        <m:t>=8192,  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sz="2400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sz="240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40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sz="2400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sz="2400">
                              <a:latin typeface="Cambria Math"/>
                            </a:rPr>
                            <m:t>32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9EF2BA-9821-419F-8402-3B5D2FA0D2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2095500"/>
                <a:ext cx="4857750" cy="809625"/>
              </a:xfrm>
              <a:prstGeom prst="rect">
                <a:avLst/>
              </a:prstGeom>
              <a:blipFill>
                <a:blip r:embed="rId2"/>
                <a:stretch>
                  <a:fillRect l="-261" b="-312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666C9925-65A6-4419-8B7C-8865A8C22971}"/>
              </a:ext>
            </a:extLst>
          </p:cNvPr>
          <p:cNvSpPr>
            <a:spLocks noGrp="1"/>
          </p:cNvSpPr>
          <p:nvPr/>
        </p:nvSpPr>
        <p:spPr>
          <a:xfrm>
            <a:off x="6334125" y="1476375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007D80"/>
                </a:solidFill>
              </a:defRPr>
            </a:defPPr>
          </a:lstStyle>
          <a:p>
            <a:pPr>
              <a:defRPr sz="2250" b="1">
                <a:solidFill>
                  <a:srgbClr val="007D80"/>
                </a:solidFill>
              </a:defRPr>
            </a:pPr>
            <a:r>
              <a:rPr sz="2250" b="1">
                <a:solidFill>
                  <a:srgbClr val="007D80"/>
                </a:solidFill>
              </a:rPr>
              <a:t>Power-of-two subdivision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4D56F61-F16F-40F7-95AE-6905FB1ECF4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334125" y="2095500"/>
                <a:ext cx="5238750" cy="809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250" b="0">
                    <a:solidFill>
                      <a:srgbClr val="152B43"/>
                    </a:solidFill>
                  </a:defRPr>
                </a:def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400">
                          <a:latin typeface="Cambria Math"/>
                        </a:rPr>
                        <m:t>𝑞</m:t>
                      </m:r>
                      <m:r>
                        <a:rPr sz="240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40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max</m:t>
                          </m:r>
                          <m:d>
                            <m:dPr>
                              <m:ctrlPr>
                                <a:rPr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2400">
                                  <a:latin typeface="Cambria Math"/>
                                </a:rPr>
                                <m:t>0,</m:t>
                              </m:r>
                              <m:d>
                                <m:dPr>
                                  <m:begChr m:val="⌈"/>
                                  <m:endChr m:val="⌉"/>
                                  <m:ctrlPr>
                                    <a:rPr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sz="2400">
                                          <a:latin typeface="Cambria Math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sz="240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sz="2400">
                                      <a:latin typeface="Cambria Math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2400">
                                          <a:latin typeface="Cambria Math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sz="2400">
                                          <a:latin typeface="Cambria Math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r>
                                    <a:rPr sz="2400">
                                      <a:latin typeface="Cambria Math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2400">
                                          <a:latin typeface="Cambria Math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sz="2400">
                                          <a:latin typeface="Cambria Math"/>
                                        </a:rPr>
                                        <m:t>𝑓</m:t>
                                      </m:r>
                                    </m:sub>
                                  </m:sSub>
                                  <m:r>
                                    <a:rPr sz="2400">
                                      <a:latin typeface="Cambria Math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4D56F61-F16F-40F7-95AE-6905FB1ECF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125" y="2095500"/>
                <a:ext cx="5238750" cy="809625"/>
              </a:xfrm>
              <a:prstGeom prst="rect">
                <a:avLst/>
              </a:prstGeom>
              <a:blipFill>
                <a:blip r:embed="rId3"/>
                <a:stretch>
                  <a:fillRect l="-24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0F2841D-286F-4F52-B4CA-2AD922DA9D3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3362325"/>
                <a:ext cx="5905500" cy="9525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250" b="0">
                    <a:solidFill>
                      <a:srgbClr val="152B43"/>
                    </a:solidFill>
                  </a:defRPr>
                </a:def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sz="2400"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sz="240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Δ</m:t>
                          </m:r>
                          <m:sSub>
                            <m:sSubPr>
                              <m:ctrlPr>
                                <a:rPr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40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sz="2400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sz="2400">
                              <a:latin typeface="Cambria Math"/>
                            </a:rPr>
                            <m:t>𝑞</m:t>
                          </m:r>
                        </m:den>
                      </m:f>
                      <m:r>
                        <a:rPr sz="2400">
                          <a:latin typeface="Cambria Math"/>
                        </a:rPr>
                        <m:t>≤</m:t>
                      </m:r>
                      <m:f>
                        <m:f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400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sz="2400">
                                  <a:latin typeface="Cambria Math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r>
                            <a:rPr sz="2400">
                              <a:latin typeface="Cambria Math"/>
                            </a:rPr>
                            <m:t>32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0F2841D-286F-4F52-B4CA-2AD922DA9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362325"/>
                <a:ext cx="5905500" cy="952500"/>
              </a:xfrm>
              <a:prstGeom prst="rect">
                <a:avLst/>
              </a:prstGeom>
              <a:blipFill>
                <a:blip r:embed="rId4"/>
                <a:stretch>
                  <a:fillRect l="-2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971EC194-3EFB-4A50-B467-4893DD3C7262}"/>
              </a:ext>
            </a:extLst>
          </p:cNvPr>
          <p:cNvSpPr>
            <a:spLocks noGrp="1"/>
          </p:cNvSpPr>
          <p:nvPr/>
        </p:nvSpPr>
        <p:spPr>
          <a:xfrm>
            <a:off x="571500" y="4638675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152B43"/>
                </a:solidFill>
              </a:defRPr>
            </a:defPPr>
          </a:lstStyle>
          <a:p>
            <a:pPr>
              <a:defRPr sz="2325" b="1">
                <a:solidFill>
                  <a:srgbClr val="152B43"/>
                </a:solidFill>
              </a:defRPr>
            </a:pPr>
            <a:r>
              <a:rPr sz="2325" b="1">
                <a:solidFill>
                  <a:srgbClr val="152B43"/>
                </a:solidFill>
              </a:rPr>
              <a:t>Save every slow and fast channel at the fine </a:t>
            </a:r>
            <a:r>
              <a:rPr sz="2325" b="1">
                <a:solidFill>
                  <a:srgbClr val="152B43"/>
                </a:solidFill>
              </a:rPr>
              <a:t>sampling interval</a:t>
            </a:r>
            <a:r>
              <a:rPr sz="2325" b="1">
                <a:solidFill>
                  <a:srgbClr val="152B43"/>
                </a:solidFill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FB7A8F-DFAB-4879-B794-C02BB3AC5F56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526477"/>
                </a:solidFill>
              </a:defRPr>
            </a:defPPr>
          </a:lstStyle>
          <a:p>
            <a:pPr>
              <a:defRPr sz="2025" b="0">
                <a:solidFill>
                  <a:srgbClr val="526477"/>
                </a:solidFill>
              </a:defRPr>
            </a:pPr>
            <a:r>
              <a:rPr sz="2025" b="0">
                <a:solidFill>
                  <a:srgbClr val="526477"/>
                </a:solidFill>
              </a:rPr>
              <a:t>Keep the first K channels at every q-th sampling time.</a:t>
            </a:r>
          </a:p>
          <a:p>
            <a:pPr>
              <a:defRPr sz="2025" b="0">
                <a:solidFill>
                  <a:srgbClr val="526477"/>
                </a:solidFill>
              </a:defRPr>
            </a:pPr>
            <a:r>
              <a:rPr sz="2025" b="0">
                <a:solidFill>
                  <a:srgbClr val="526477"/>
                </a:solidFill>
              </a:rPr>
              <a:t>This preserves both endpoints and gives exactly 8,192 slow samples.</a:t>
            </a:r>
          </a:p>
        </p:txBody>
      </p:sp>
    </p:spTree>
    <p:extLst>
      <p:ext uri="{BB962C8B-B14F-4D97-AF65-F5344CB8AC3E}">
        <p14:creationId xmlns:p14="http://schemas.microsoft.com/office/powerpoint/2010/main" val="2065522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D13430-D80E-4C42-ACE0-1701F26248F7}"/>
              </a:ext>
            </a:extLst>
          </p:cNvPr>
          <p:cNvSpPr>
            <a:spLocks noGrp="1"/>
          </p:cNvSpPr>
          <p:nvPr/>
        </p:nvSpPr>
        <p:spPr>
          <a:xfrm>
            <a:off x="552450" y="409575"/>
            <a:ext cx="110871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52B43"/>
                </a:solidFill>
              </a:defRPr>
            </a:defPPr>
          </a:lstStyle>
          <a:p>
            <a:pPr>
              <a:defRPr sz="3150" b="1">
                <a:solidFill>
                  <a:srgbClr val="152B43"/>
                </a:solidFill>
              </a:defRPr>
            </a:pPr>
            <a:r>
              <a:rPr sz="3150" b="1">
                <a:solidFill>
                  <a:srgbClr val="152B43"/>
                </a:solidFill>
              </a:rPr>
              <a:t>Exact counts and baseline calibration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3E9693-7D57-408B-BC1A-D9D4AF238BA0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26477"/>
                </a:solidFill>
              </a:defRPr>
            </a:defPPr>
          </a:lstStyle>
          <a:p>
            <a:pPr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31F4496-8087-471C-89FE-E876C70E45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419225"/>
                <a:ext cx="10477500" cy="762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/>
              <a:lstStyle>
                <a:defPPr>
                  <a:defRPr sz="2250" b="0">
                    <a:solidFill>
                      <a:srgbClr val="152B43"/>
                    </a:solidFill>
                  </a:defRPr>
                </a:def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>
                              <a:latin typeface="Cambria Math"/>
                            </a:rPr>
                            <m:t>𝑁</m:t>
                          </m:r>
                        </m:e>
                        <m:sub>
                          <m:r>
                            <a:rPr sz="2400"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sz="2400">
                          <a:latin typeface="Cambria Math"/>
                        </a:rPr>
                        <m:t>=(8192−1)</m:t>
                      </m:r>
                      <m:r>
                        <a:rPr sz="2400">
                          <a:latin typeface="Cambria Math"/>
                        </a:rPr>
                        <m:t>𝑞</m:t>
                      </m:r>
                      <m:r>
                        <a:rPr sz="2400">
                          <a:latin typeface="Cambria Math"/>
                        </a:rPr>
                        <m:t>+1,  </m:t>
                      </m:r>
                      <m:r>
                        <a:rPr sz="2400">
                          <a:latin typeface="Cambria Math"/>
                        </a:rPr>
                        <m:t>𝐷</m:t>
                      </m:r>
                      <m:r>
                        <a:rPr sz="2400">
                          <a:latin typeface="Cambria Math"/>
                        </a:rPr>
                        <m:t>=8191 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Δ</m:t>
                      </m:r>
                      <m:sSub>
                        <m:sSub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sz="2400">
                              <a:latin typeface="Cambria Math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31F4496-8087-471C-89FE-E876C70E45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419225"/>
                <a:ext cx="10477500" cy="762000"/>
              </a:xfrm>
              <a:prstGeom prst="rect">
                <a:avLst/>
              </a:prstGeom>
              <a:blipFill>
                <a:blip r:embed="rId2"/>
                <a:stretch>
                  <a:fillRect l="-12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6C712D-7F78-4297-A07A-9D20E69D55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248799"/>
              </p:ext>
            </p:extLst>
          </p:nvPr>
        </p:nvGraphicFramePr>
        <p:xfrm>
          <a:off x="571500" y="2428875"/>
          <a:ext cx="11049000" cy="2886078"/>
        </p:xfrm>
        <a:graphic>
          <a:graphicData uri="http://schemas.openxmlformats.org/drawingml/2006/table">
            <a:tbl>
              <a:tblPr/>
              <a:tblGrid>
                <a:gridCol w="538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10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Quantity</a:t>
                      </a:r>
                    </a:p>
                  </a:txBody>
                  <a:tcPr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>
                      <a:solidFill>
                        <a:srgbClr val="D4DEE5"/>
                      </a:solidFill>
                      <a:prstDash val="soli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Baseline split calibration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>
                      <a:solidFill>
                        <a:srgbClr val="D4DEE5"/>
                      </a:solidFill>
                      <a:prstDash val="soli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52B43"/>
                          </a:solidFill>
                        </a:rPr>
                        <a:t>Slow bandwidth period Tₛ</a:t>
                      </a:r>
                    </a:p>
                  </a:txBody>
                  <a:tcPr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0.4184100418410042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52B43"/>
                          </a:solidFill>
                        </a:rPr>
                        <a:t>Fast bandwidth period </a:t>
                      </a:r>
                      <a:r>
                        <a:rPr sz="1800" b="0" dirty="0" err="1">
                          <a:solidFill>
                            <a:srgbClr val="152B43"/>
                          </a:solidFill>
                        </a:rPr>
                        <a:t>T</a:t>
                      </a:r>
                      <a:r>
                        <a:rPr sz="1350" b="0" dirty="0" baseline="-25000">
                          <a:solidFill>
                            <a:srgbClr val="152B43"/>
                          </a:solidFill>
                        </a:rPr>
                        <a:t>f</a:t>
                      </a:r>
                      <a:endParaRPr sz="1800" b="0" dirty="0">
                        <a:solidFill>
                          <a:srgbClr val="152B43"/>
                        </a:solidFill>
                      </a:endParaRPr>
                    </a:p>
                  </a:txBody>
                  <a:tcPr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52B43"/>
                          </a:solidFill>
                        </a:rPr>
                        <a:t>0.004628988143111395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Period ratio and subdivision</a:t>
                      </a:r>
                    </a:p>
                  </a:txBody>
                  <a:tcPr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152B43"/>
                          </a:solidFill>
                        </a:rPr>
                        <a:t>T</a:t>
                      </a:r>
                      <a:r>
                        <a:rPr sz="1800" b="0" dirty="0">
                          <a:solidFill>
                            <a:srgbClr val="152B43"/>
                          </a:solidFill>
                        </a:rPr>
                        <a:t>ₛ / </a:t>
                      </a:r>
                      <a:r>
                        <a:rPr sz="1800" b="0" dirty="0" err="1">
                          <a:solidFill>
                            <a:srgbClr val="152B43"/>
                          </a:solidFill>
                        </a:rPr>
                        <a:t>T</a:t>
                      </a:r>
                      <a:r>
                        <a:rPr lang="en-US" altLang="zh-CN" sz="1800" b="0" baseline="-25000" dirty="0" err="1">
                          <a:solidFill>
                            <a:srgbClr val="152B43"/>
                          </a:solidFill>
                        </a:rPr>
                        <a:t>f</a:t>
                      </a:r>
                      <a:r>
                        <a:rPr sz="1800" b="0" dirty="0">
                          <a:solidFill>
                            <a:srgbClr val="152B43"/>
                          </a:solidFill>
                        </a:rPr>
                        <a:t> ≈ 90.4, so q = 128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Stored samples per channel</a:t>
                      </a:r>
                    </a:p>
                  </a:txBody>
                  <a:tcPr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52B43"/>
                          </a:solidFill>
                        </a:rPr>
                        <a:t>1,048,449 on the shared fine grid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</a:rPr>
                        <a:t>Slow observations after stride 128</a:t>
                      </a:r>
                    </a:p>
                  </a:txBody>
                  <a:tcPr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52B43"/>
                          </a:solidFill>
                        </a:rPr>
                        <a:t>8,192, including both endpoints</a:t>
                      </a:r>
                    </a:p>
                  </a:txBody>
                  <a:tcPr>
                    <a:lnL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 cap="flat" cmpd="sng" algn="ctr">
                      <a:solidFill>
                        <a:srgbClr val="D4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1BDB371-2448-40D8-A9C2-51546772C554}"/>
              </a:ext>
            </a:extLst>
          </p:cNvPr>
          <p:cNvSpPr>
            <a:spLocks noGrp="1"/>
          </p:cNvSpPr>
          <p:nvPr/>
        </p:nvSpPr>
        <p:spPr>
          <a:xfrm>
            <a:off x="571500" y="5553075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007D80"/>
                </a:solidFill>
              </a:defRPr>
            </a:defPPr>
          </a:lstStyle>
          <a:p>
            <a:pPr>
              <a:defRPr sz="2100" b="1">
                <a:solidFill>
                  <a:srgbClr val="007D80"/>
                </a:solidFill>
              </a:defRPr>
            </a:pPr>
            <a:r>
              <a:rPr sz="2100" b="1">
                <a:solidFill>
                  <a:srgbClr val="007D80"/>
                </a:solidFill>
              </a:rPr>
              <a:t>All six configurations use q = 128 and 1,048,449 points per channel.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2E2A47-089A-4EC1-9D8D-AC990E3762F3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858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26477"/>
                </a:solidFill>
              </a:defRPr>
            </a:defPPr>
          </a:lstStyle>
          <a:p>
            <a:pPr>
              <a:defRPr sz="1725" b="0">
                <a:solidFill>
                  <a:srgbClr val="526477"/>
                </a:solidFill>
              </a:defRPr>
            </a:pPr>
            <a:r>
              <a:rPr sz="1725" b="0">
                <a:solidFill>
                  <a:srgbClr val="526477"/>
                </a:solidFill>
              </a:rPr>
              <a:t>Single-scale trajectories use their own calibrated </a:t>
            </a:r>
            <a:r>
              <a:rPr sz="1725" b="1">
                <a:solidFill>
                  <a:srgbClr val="152B43"/>
                </a:solidFill>
              </a:rPr>
              <a:t>sampling interval</a:t>
            </a:r>
            <a:r>
              <a:rPr sz="1725" b="0">
                <a:solidFill>
                  <a:srgbClr val="526477"/>
                </a:solidFill>
              </a:rPr>
              <a:t> and save 8,192 samples.</a:t>
            </a:r>
          </a:p>
        </p:txBody>
      </p:sp>
    </p:spTree>
    <p:extLst>
      <p:ext uri="{BB962C8B-B14F-4D97-AF65-F5344CB8AC3E}">
        <p14:creationId xmlns:p14="http://schemas.microsoft.com/office/powerpoint/2010/main" val="1161938487"/>
      </p:ext>
    </p:extLst>
  </p:cSld>
  <p:clrMapOvr>
    <a:masterClrMapping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5937E76D-02E0-446A-BB35-E79C1ACF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Lorenz–96 benchmark</a:t>
            </a:r>
          </a:p>
        </p:txBody>
      </p:sp>
      <p:sp>
        <p:nvSpPr>
          <p:cNvPr id="3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56819769-F8BF-43E6-BDD3-77A64D9F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Dataset construction, sampling,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20993183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7ECE6F9-9606-484A-8942-A40CDFD3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Benchmark completion and validation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FF4A4F32-8787-4D32-891E-82CF098C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v0.5: generation and validation complete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70B9C-DA58-416A-A96E-A34A275DC834}"/>
              </a:ext>
            </a:extLst>
          </p:cNvPr>
          <p:cNvGraphicFramePr/>
          <p:nvPr/>
        </p:nvGraphicFramePr>
        <p:xfrm>
          <a:off xmlns:a="http://schemas.openxmlformats.org/drawingml/2006/main" x="571500" y="2266950"/>
          <a:ext xmlns:a="http://schemas.openxmlformats.org/drawingml/2006/main" cx="110490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809875"/>
                <a:gridCol w="2809875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Collection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T w="9525">
                      <a:solidFill>
                        <a:srgbClr val="D4DEE5"/>
                      </a:solidFill>
                      <a:prstDash val="soli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T w="9525">
                      <a:solidFill>
                        <a:srgbClr val="D4DEE5"/>
                      </a:solidFill>
                      <a:prstDash val="soli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T w="9525">
                      <a:solidFill>
                        <a:srgbClr val="D4DEE5"/>
                      </a:solidFill>
                      <a:prstDash val="solid"/>
                    </a:lnT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152B43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  <a:latin typeface="Arial"/>
                          <a:ea typeface="Arial"/>
                          <a:cs typeface="Arial"/>
                        </a:rPr>
                        <a:t>Forecasting trajectories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  <a:latin typeface="Arial"/>
                          <a:ea typeface="Arial"/>
                          <a:cs typeface="Arial"/>
                        </a:rPr>
                        <a:t>152 (76 pairs)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  <a:latin typeface="Arial"/>
                          <a:ea typeface="Arial"/>
                          <a:cs typeface="Arial"/>
                        </a:rPr>
                        <a:t>152 passed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  <a:latin typeface="Arial"/>
                          <a:ea typeface="Arial"/>
                          <a:cs typeface="Arial"/>
                        </a:rPr>
                        <a:t>Dense calibrations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  <a:latin typeface="Arial"/>
                          <a:ea typeface="Arial"/>
                          <a:cs typeface="Arial"/>
                        </a:rPr>
                        <a:t>12 passed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EDF2F4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  <a:latin typeface="Arial"/>
                          <a:ea typeface="Arial"/>
                          <a:cs typeface="Arial"/>
                        </a:rPr>
                        <a:t>Frozen GP closures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EE5"/>
                      </a:solidFill>
                      <a:prstDash val="solid"/>
                    </a:lnL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B43"/>
                          </a:solidFill>
                          <a:latin typeface="Arial"/>
                          <a:ea typeface="Arial"/>
                          <a:cs typeface="Arial"/>
                        </a:rPr>
                        <a:t>6 passed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EE5"/>
                      </a:solidFill>
                      <a:prstDash val="solid"/>
                    </a:lnR>
                    <a:lnB w="9525">
                      <a:solidFill>
                        <a:srgbClr val="D4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validation-result">
            <a:extLst xmlns:a="http://schemas.openxmlformats.org/drawingml/2006/main">
              <a:ext uri="{FF2B5EF4-FFF2-40B4-BE49-F238E27FC236}">
                <a16:creationId xmlns:a16="http://schemas.microsoft.com/office/drawing/2014/main" id="{CDF19DF7-034E-4476-99D0-CDE225B9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63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7D8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D80"/>
                </a:solidFill>
                <a:latin typeface="Arial"/>
                <a:ea typeface="Arial"/>
                <a:cs typeface="Arial"/>
              </a:rPr>
              <a:t>0 failures and 0 review flags</a:t>
            </a:r>
          </a:p>
        </p:txBody>
      </p:sp>
      <p:sp>
        <p:nvSpPr>
          <p:cNvPr id="5" name="validation-scope">
            <a:extLst xmlns:a="http://schemas.openxmlformats.org/drawingml/2006/main">
              <a:ext uri="{FF2B5EF4-FFF2-40B4-BE49-F238E27FC236}">
                <a16:creationId xmlns:a16="http://schemas.microsoft.com/office/drawing/2014/main" id="{042DAB89-E621-4435-8BE9-E063E7B2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Structural, numerical, and statistical checks cover the full benchmark.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1F2DFD7B-71B8-457C-AADC-23FD7B9F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515115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129ED2-8FB6-4466-A548-26AA5CE1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104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Panda fine-tuning</a:t>
            </a:r>
          </a:p>
          <a:p xmlns:a="http://schemas.openxmlformats.org/drawingml/2006/main">
            <a:pPr>
              <a:defRPr sz="4800" b="1">
                <a:solidFill>
                  <a:srgbClr val="152B4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2B43"/>
                </a:solidFill>
                <a:latin typeface="Arial"/>
                <a:ea typeface="Arial"/>
                <a:cs typeface="Arial"/>
              </a:rPr>
              <a:t>on Lorenz–96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9E2AFEF-196D-4207-890B-6818E3CF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Panda architecture, pretraining, and Lorenz–96 adaptation</a:t>
            </a:r>
          </a:p>
        </p:txBody>
      </p:sp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F5A63655-F26E-499F-AF51-2B35FBB9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959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Single-scale and multiscale slow observations</a:t>
            </a:r>
          </a:p>
        </p:txBody>
      </p:sp>
    </p:spTree>
    <p:extLst>
      <p:ext uri="{BB962C8B-B14F-4D97-AF65-F5344CB8AC3E}">
        <p14:creationId xmlns:p14="http://schemas.microsoft.com/office/powerpoint/2010/main" val="1997511882"/>
      </p:ext>
    </p:extLst>
  </p:cSld>
</p:sld>
</file>

<file path=ppt/slides/slide1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7F8F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Title">
            <ns1:extLst>
              <ns1:ext uri="{FF2B5EF4-FFF2-40B4-BE49-F238E27FC236}">
                <ns2:creationId id="{DC3946BD-6AF9-4E19-9747-FEBB1C42C728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409575"/>
            <ns1:ext cx="110871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Forecasting from slow observations</ns1:t>
            </ns1:r>
          </ns1:p>
        </ns0:txBody>
      </ns0:sp>
      <ns0:sp>
        <ns0:nvSpPr>
          <ns0:cNvPr id="2" name="Page number">
            <ns1:extLst>
              <ns1:ext uri="{FF2B5EF4-FFF2-40B4-BE49-F238E27FC236}">
                <ns2:creationId id="{5014F36E-7C35-4BBF-8510-4E6E4E37809E}"/>
              </ns1:ext>
            </ns1:extLst>
          </ns0:cNvPr>
          <ns0:cNvSpPr>
            <ns1:spLocks noGrp="1"/>
          </ns0:cNvSpPr>
          <ns0:nvPr/>
        </ns0:nvSpPr>
        <ns0:spPr>
          <ns1:xfrm>
            <ns1:off x="11182350" y="6362700"/>
            <ns1:ext cx="457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defPPr>
            <ns1:lvl1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rPr>
              <ns1:t>28</ns1:t>
            </ns1:r>
          </ns1:p>
        </ns0:txBody>
      </ns0:sp>
      <ns0:sp>
        <ns0:nvSpPr>
          <ns0:cNvPr id="3" name="Observation heading">
            <ns1:extLst>
              <ns1:ext uri="{FF2B5EF4-FFF2-40B4-BE49-F238E27FC236}">
                <ns2:creationId id="{AE4AEC6B-9BC5-49C6-9694-3A03A555F85E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1828800"/>
            <ns1:ext cx="5095875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defPPr>
            <ns1:lvl1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pPr>
            <ns1:r>
              <ns1: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rPr>
              <ns1:t>Model input</ns1:t>
            </ns1:r>
          </ns1:p>
        </ns0:txBody>
      </ns0:sp>
      <ns0:sp>
        <ns0:nvSpPr>
          <ns0:cNvPr id="4" name="Observed history">
            <ns1:extLst>
              <ns1:ext uri="{FF2B5EF4-FFF2-40B4-BE49-F238E27FC236}">
                <ns2:creationId id="{48E07419-CDAC-4929-A1F8-DDD833198420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2476500"/>
            <ns1:ext cx="5095875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Past slow observations</ns1:t>
            </ns1:r>
          </ns1:p>
        </ns0:txBody>
      </ns0:sp>
      <ns0:sp>
        <ns0:nvSpPr>
          <ns0:cNvPr id="5" name="Target heading">
            <ns1:extLst>
              <ns1:ext uri="{FF2B5EF4-FFF2-40B4-BE49-F238E27FC236}">
                <ns2:creationId id="{DEB5FF97-97A1-423F-9AED-052F571755CC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3476625"/>
            <ns1:ext cx="5095875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defPPr>
            <ns1:lvl1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pPr>
            <ns1:r>
              <ns1: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rPr>
              <ns1:t>Prediction target</ns1:t>
            </ns1:r>
          </ns1:p>
        </ns0:txBody>
      </ns0:sp>
      <ns0:sp>
        <ns0:nvSpPr>
          <ns0:cNvPr id="6" name="Forecast target">
            <ns1:extLst>
              <ns1:ext uri="{FF2B5EF4-FFF2-40B4-BE49-F238E27FC236}">
                <ns2:creationId id="{13733F9E-636E-4EDB-BE27-1B09C29DBFCE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4124325"/>
            <ns1:ext cx="5095875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Future slow observations</ns1:t>
            </ns1:r>
          </ns1:p>
        </ns0:txBody>
      </ns0:sp>
      <ns0:sp>
        <ns0:nvSpPr>
          <ns0:cNvPr id="7" name="Dynamics heading">
            <ns1:extLst>
              <ns1:ext uri="{FF2B5EF4-FFF2-40B4-BE49-F238E27FC236}">
                <ns2:creationId id="{C7C97F61-B558-4707-B871-1279F96152B8}"/>
              </ns1:ext>
            </ns1:extLst>
          </ns0:cNvPr>
          <ns0:cNvSpPr>
            <ns1:spLocks noGrp="1"/>
          </ns0:cNvSpPr>
          <ns0:nvPr/>
        </ns0:nvSpPr>
        <ns0:spPr>
          <ns1:xfrm>
            <ns1:off x="6477000" y="1828800"/>
            <ns1:ext cx="5143500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defPPr>
            <ns1:lvl1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pPr>
            <ns1:r>
              <ns1:rPr sz="2250" b="1">
                <ns1:solidFill>
                  <ns1:srgbClr val="007D80"/>
                </ns1:solidFill>
                <ns1:latin typeface="Arial"/>
                <ns1:ea typeface="Arial"/>
                <ns1:cs typeface="Arial"/>
              </ns1:rPr>
              <ns1:t>Hidden dynamics</ns1:t>
            </ns1:r>
          </ns1:p>
        </ns0:txBody>
      </ns0:sp>
      <ns0:sp>
        <ns0:nvSpPr>
          <ns0:cNvPr id="8" name="Hidden states">
            <ns1:extLst>
              <ns1:ext uri="{FF2B5EF4-FFF2-40B4-BE49-F238E27FC236}">
                <ns2:creationId id="{3843F6BA-E35A-4592-B729-751AC73628CB}"/>
              </ns1:ext>
            </ns1:extLst>
          </ns0:cNvPr>
          <ns0:cNvSpPr>
            <ns1:spLocks noGrp="1"/>
          </ns0:cNvSpPr>
          <ns0:nvPr/>
        </ns0:nvSpPr>
        <ns0:spPr>
          <ns1:xfrm>
            <ns1:off x="6477000" y="2571750"/>
            <ns1:ext cx="5143500" cy="8763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Hidden fast states influence</ns1:t>
            </ns1:r>
          </ns1:p>
          <ns1:p>
            <ns1: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slow-state evolution</ns1:t>
            </ns1:r>
          </ns1:p>
        </ns0:txBody>
      </ns0:sp>
      <ns0:sp>
        <ns0:nvSpPr>
          <ns0:cNvPr id="9" name="Inference restriction">
            <ns1:extLst>
              <ns1:ext uri="{FF2B5EF4-FFF2-40B4-BE49-F238E27FC236}">
                <ns2:creationId id="{CA89C779-F1DC-4225-8476-2EF3F5B0F638}"/>
              </ns1:ext>
            </ns1:extLst>
          </ns0:cNvPr>
          <ns0:cNvSpPr>
            <ns1:spLocks noGrp="1"/>
          </ns0:cNvSpPr>
          <ns0:nvPr/>
        </ns0:nvSpPr>
        <ns0:spPr>
          <ns1:xfrm>
            <ns1:off x="6477000" y="3733800"/>
            <ns1:ext cx="5143500" cy="8763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Fast states remain unavailable</ns1:t>
            </ns1:r>
          </ns1:p>
          <ns1:p>
            <ns1: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at inference</ns1:t>
            </ns1:r>
          </ns1:p>
        </ns0:txBody>
      </ns0:sp>
      <ns0:sp>
        <ns0:nvSpPr>
          <ns0:cNvPr id="10" name="Research question">
            <ns1:extLst>
              <ns1:ext uri="{FF2B5EF4-FFF2-40B4-BE49-F238E27FC236}">
                <ns2:creationId id="{861CD567-2A9B-4BC2-A4E4-6791B665ABDF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5219700"/>
            <ns1:ext cx="10953750" cy="8953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defPPr>
            <ns1:lvl1pPr>
              <ns1:defRPr sz="24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24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24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24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24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24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24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24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24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24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pPr>
            <ns1:r>
              <ns1:rPr sz="2400" b="1">
                <ns1:solidFill>
                  <ns1:srgbClr val="007D80"/>
                </ns1:solidFill>
                <ns1:latin typeface="Arial"/>
                <ns1:ea typeface="Arial"/>
                <ns1:cs typeface="Arial"/>
              </ns1:rPr>
              <ns1:t>Can observation history capture enough</ns1:t>
            </ns1:r>
          </ns1:p>
          <ns1:p>
            <ns1:pPr>
              <ns1:defRPr sz="24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pPr>
            <ns1:r>
              <ns1:rPr sz="2400" b="1">
                <ns1:solidFill>
                  <ns1:srgbClr val="007D80"/>
                </ns1:solidFill>
                <ns1:latin typeface="Arial"/>
                <ns1:ea typeface="Arial"/>
                <ns1:cs typeface="Arial"/>
              </ns1:rPr>
              <ns1:t>of the hidden fast dynamics?</ns1:t>
            </ns1:r>
          </ns1:p>
        </ns0:txBody>
      </ns0:sp>
    </ns0:spTree>
    <ns0:extLst>
      <ns0:ext uri="{BB962C8B-B14F-4D97-AF65-F5344CB8AC3E}">
        <ns3:creationId val="1170109126"/>
      </ns0:ext>
    </ns0:extLst>
  </ns0:cSld>
</ns0:sld>
</file>

<file path=ppt/slides/slide1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7F8F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8" name="Title">
            <ns1:extLst>
              <ns1:ext uri="{FF2B5EF4-FFF2-40B4-BE49-F238E27FC236}">
                <ns2:creationId id="{029757E7-0841-4D96-AA11-46D9BD6F0D8D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409575"/>
            <ns1:ext cx="110871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Why fine-tune Panda?</ns1:t>
            </ns1:r>
          </ns1:p>
        </ns0:txBody>
      </ns0:sp>
      <ns0:sp>
        <ns0:nvSpPr>
          <ns0:cNvPr id="2" name="Page number">
            <ns1:extLst>
              <ns1:ext uri="{FF2B5EF4-FFF2-40B4-BE49-F238E27FC236}">
                <ns2:creationId id="{030314F5-06BA-4E5D-81A8-BDB0E2ABF7F7}"/>
              </ns1:ext>
            </ns1:extLst>
          </ns0:cNvPr>
          <ns0:cNvSpPr>
            <ns1:spLocks noGrp="1"/>
          </ns0:cNvSpPr>
          <ns0:nvPr/>
        </ns0:nvSpPr>
        <ns0:spPr>
          <ns1:xfrm>
            <ns1:off x="11182350" y="6362700"/>
            <ns1:ext cx="457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defPPr>
            <ns1:lvl1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rPr>
              <ns1:t>29</ns1:t>
            </ns1:r>
          </ns1:p>
        </ns0:txBody>
      </ns0:sp>
      <ns0:sp>
        <ns0:nvSpPr>
          <ns0:cNvPr id="3" name="Panda claim">
            <ns1:extLst>
              <ns1:ext uri="{FF2B5EF4-FFF2-40B4-BE49-F238E27FC236}">
                <ns2:creationId id="{B0F28C8D-2E43-4A66-A60F-0A61E76BBF66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1571625"/>
            <ns1:ext cx="1104900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2100" b="0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Panda reports zero-shot forecasts on unseen chaotic systems.</ns1:t>
            </ns1:r>
          </ns1:p>
        </ns0:txBody>
      </ns0:sp>
      <ns0:graphicFrame>
        <ns0:nvGraphicFramePr>
          <ns0:cNvPr id="4" name="">
            <ns1:extLst>
              <ns1:ext uri="{FF2B5EF4-FFF2-40B4-BE49-F238E27FC236}">
                <ns2:creationId id="{493F3B01-45D9-4CAC-9947-574F7A0EE7EE}"/>
              </ns1:ext>
            </ns1:extLst>
          </ns0:cNvPr>
          <ns0:cNvGraphicFramePr/>
          <ns0:nvPr/>
        </ns0:nvGraphicFramePr>
        <ns0:xfrm>
          <ns1:off x="571500" y="2428875"/>
          <ns1:ext cx="11049000" cy="1504950"/>
        </ns0:xfrm>
        <ns1:graphic>
          <ns1:graphicData uri="http://schemas.openxmlformats.org/drawingml/2006/table">
            <ns1:tbl>
              <ns1:tblPr/>
              <ns1:tblGrid>
                <ns1:gridCol w="6381750"/>
                <ns1:gridCol w="4667250"/>
              </ns1:tblGrid>
              <ns1:tr h="457200">
                <ns1:tc>
                  <ns1:txBody>
                    <ns1:bodyPr/>
                    <ns1:lstStyle/>
                    <ns1:p>
                      <ns1:r>
                        <ns1:rPr sz="195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Our zero-shot pilot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T w="9525">
                      <ns1:solidFill>
                        <ns1:srgbClr val="D4DEE5"/>
                      </ns1:solidFill>
                      <ns1:prstDash val="solid"/>
                    </ns1:lnT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152B4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95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Qualitative outcome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T w="9525">
                      <ns1:solidFill>
                        <ns1:srgbClr val="D4DEE5"/>
                      </ns1:solidFill>
                      <ns1:prstDash val="solid"/>
                    </ns1:lnT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152B43"/>
                    </ns1:solidFill>
                  </ns1:tcPr>
                </ns1:tc>
              </ns1:tr>
              <ns1:tr h="523875">
                <ns1:tc>
                  <ns1:txBody>
                    <ns1:bodyPr/>
                    <ns1:lstStyle/>
                    <ns1:p>
                      <ns1:r>
                        <ns1:rPr sz="195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Single-scale observations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95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Poor forecasting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523875">
                <ns1:tc>
                  <ns1:txBody>
                    <ns1:bodyPr/>
                    <ns1:lstStyle/>
                    <ns1:p>
                      <ns1:r>
                        <ns1:rPr sz="195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Multiscale slow observations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95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Poor forecasting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5" name="Interpretation">
            <ns1:extLst>
              <ns1:ext uri="{FF2B5EF4-FFF2-40B4-BE49-F238E27FC236}">
                <ns2:creationId id="{6122B0E2-8225-43B1-9973-5C324C8D0DD0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4324350"/>
            <ns1:ext cx="110490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Poor forecasts in both families do not isolate hidden-fast effects.</ns1:t>
            </ns1:r>
          </ns1:p>
        </ns0:txBody>
      </ns0:sp>
      <ns0:sp>
        <ns0:nvSpPr>
          <ns0:cNvPr id="6" name="Adaptation rationale">
            <ns1:extLst>
              <ns1:ext uri="{FF2B5EF4-FFF2-40B4-BE49-F238E27FC236}">
                <ns2:creationId id="{DEA4CC51-6A5E-412A-AE78-308AAAD0C284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4924425"/>
            <ns1:ext cx="110490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Fine-tuning tests whether a gap remains after adaptation.</ns1:t>
            </ns1:r>
          </ns1:p>
        </ns0:txBody>
      </ns0:sp>
      <ns0:sp>
        <ns0:nvSpPr>
          <ns0:cNvPr id="7" name="Hypothesis">
            <ns1:extLst>
              <ns1:ext uri="{FF2B5EF4-FFF2-40B4-BE49-F238E27FC236}">
                <ns2:creationId id="{A7AE02DC-5B4C-4D3B-AA32-4E80AD17E305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5638800"/>
            <ns1:ext cx="110490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defPPr>
            <ns1:lvl1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rPr>
              <ns1:t>Hypothesis: the reduced single-scale system is easier to forecast.</ns1:t>
            </ns1:r>
          </ns1:p>
        </ns0:txBody>
      </ns0:sp>
      <ns0:sp>
        <ns0:nvSpPr>
          <ns0:cNvPr id="9" name="Visible source citations"/>
          <ns0:cNvSpPr/>
          <ns0:nvPr/>
        </ns0:nvSpPr>
        <ns0:spPr>
          <ns1:xfrm>
            <ns1:off x="571500" y="6562725"/>
            <ns1:ext cx="10477500" cy="219075"/>
          </ns1:xfrm>
          <ns1:noFill/>
        </ns0:spPr>
        <ns0:txBody>
          <ns1:bodyPr lIns="0" rIns="0" tIns="0" bIns="0" wrap="none"/>
          <ns1:lstStyle/>
          <ns1:p>
            <ns1:pPr marL="0" indent="0"/>
            <ns1:r>
              <ns1:rPr sz="1000" u="sng">
                <ns1:solidFill>
                  <ns1:srgbClr val="526477"/>
                </ns1:solidFill>
                <ns1:latin typeface="Arial"/>
                <ns1:hlinkClick xmlns:ns4="http://schemas.openxmlformats.org/officeDocument/2006/relationships" ns4:id="rIdVisibleSource1"/>
              </ns1:rPr>
              <ns1:t>Zero-shot claim: Lai, Bao &amp; Gilpin (ICLR 2026), §5.1</ns1:t>
            </ns1:r>
          </ns1:p>
        </ns0:txBody>
      </ns0:sp>
    </ns0:spTree>
    <ns0:extLst>
      <ns0:ext uri="{BB962C8B-B14F-4D97-AF65-F5344CB8AC3E}">
        <ns3:creationId val="2034094170"/>
      </ns0:ext>
    </ns0:extLst>
  </ns0:cSld>
</ns0:sld>
</file>

<file path=ppt/slides/slide1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7F8F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8" name="Title">
            <ns1:extLst>
              <ns1:ext uri="{FF2B5EF4-FFF2-40B4-BE49-F238E27FC236}">
                <ns2:creationId id="{43BB451E-B808-49B1-912B-92D340A26467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409575"/>
            <ns1:ext cx="110871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Paired fine-tuning experiments</ns1:t>
            </ns1:r>
          </ns1:p>
        </ns0:txBody>
      </ns0:sp>
      <ns0:sp>
        <ns0:nvSpPr>
          <ns0:cNvPr id="2" name="Page number">
            <ns1:extLst>
              <ns1:ext uri="{FF2B5EF4-FFF2-40B4-BE49-F238E27FC236}">
                <ns2:creationId id="{2FE99A38-E7B6-4BF2-85B5-A4D942CCB92B}"/>
              </ns1:ext>
            </ns1:extLst>
          </ns0:cNvPr>
          <ns0:cNvSpPr>
            <ns1:spLocks noGrp="1"/>
          </ns0:cNvSpPr>
          <ns0:nvPr/>
        </ns0:nvSpPr>
        <ns0:spPr>
          <ns1:xfrm>
            <ns1:off x="11182350" y="6362700"/>
            <ns1:ext cx="457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defPPr>
            <ns1:lvl1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rPr>
              <ns1:t>31</ns1:t>
            </ns1:r>
          </ns1:p>
        </ns0:txBody>
      </ns0:sp>
      <ns0:sp>
        <ns0:nvSpPr>
          <ns0:cNvPr id="3" name="Benchmark split">
            <ns1:extLst>
              <ns1:ext uri="{FF2B5EF4-FFF2-40B4-BE49-F238E27FC236}">
                <ns2:creationId id="{D717E9F1-FD72-4924-A3C6-641787458662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1495425"/>
            <ns1:ext cx="110490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2025" b="0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Baseline configuration: training / validation splits, 9 observed channels.</ns1:t>
            </ns1:r>
          </ns1:p>
        </ns0:txBody>
      </ns0:sp>
      <ns0:graphicFrame>
        <ns0:nvGraphicFramePr>
          <ns0:cNvPr id="4" name="">
            <ns1:extLst>
              <ns1:ext uri="{FF2B5EF4-FFF2-40B4-BE49-F238E27FC236}">
                <ns2:creationId id="{CC2C7A94-C36C-4CC9-9A16-8E193DBC464F}"/>
              </ns1:ext>
            </ns1:extLst>
          </ns0:cNvPr>
          <ns0:cNvGraphicFramePr/>
          <ns0:nvPr/>
        </ns0:nvGraphicFramePr>
        <ns0:xfrm>
          <ns1:off x="571500" y="2076450"/>
          <ns1:ext cx="11049000" cy="3152775"/>
        </ns0:xfrm>
        <ns1:graphic>
          <ns1:graphicData uri="http://schemas.openxmlformats.org/drawingml/2006/table">
            <ns1:tbl>
              <ns1:tblPr/>
              <ns1:tblGrid>
                <ns1:gridCol w="3238500"/>
                <ns1:gridCol w="3905250"/>
                <ns1:gridCol w="3905250"/>
              </ns1:tblGrid>
              <ns1:tr h="419100">
                <ns1:tc>
                  <ns1:txBody>
                    <ns1:bodyPr/>
                    <ns1:lstStyle/>
                    <ns1:p>
                      <ns1:r>
                        <ns1:rPr sz="18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Setting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T w="9525">
                      <ns1:solidFill>
                        <ns1:srgbClr val="D4DEE5"/>
                      </ns1:solidFill>
                      <ns1:prstDash val="solid"/>
                    </ns1:lnT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152B4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Single-scale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T w="9525">
                      <ns1:solidFill>
                        <ns1:srgbClr val="D4DEE5"/>
                      </ns1:solidFill>
                      <ns1:prstDash val="solid"/>
                    </ns1:lnT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152B4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Multiscale slow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T w="9525">
                      <ns1:solidFill>
                        <ns1:srgbClr val="D4DEE5"/>
                      </ns1:solidFill>
                      <ns1:prstDash val="solid"/>
                    </ns1:lnT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152B43"/>
                    </ns1:solidFill>
                  </ns1:tcPr>
                </ns1:tc>
              </ns1:tr>
              <ns1:tr h="428625"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Benchmark split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Training / validation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Training / validation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590550"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Observation source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singlescale/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multiscale/</ns1:t>
                      </ns1:r>
                    </ns1:p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slow_downsampled/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</ns1:tr>
              <ns1:tr h="428625"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Trajectories: train / val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32 / 8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32 / 8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428625"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Samples per trajectory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8,192 time points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8,192 time points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</ns1:tr>
              <ns1:tr h="428625"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Windows: train / val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1,920 / 480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1,920 / 480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428625"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Context / forecast / stride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512 / 128 / 128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512 / 128 / 128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5" name="Window calculation">
            <ns1:extLst>
              <ns1:ext uri="{FF2B5EF4-FFF2-40B4-BE49-F238E27FC236}">
                <ns2:creationId id="{46A527EE-303D-4786-88A6-153DB01C7CA7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5381625"/>
            <ns1:ext cx="1104900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8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defPPr>
            <ns1:lvl1pPr>
              <ns1:defRPr sz="18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18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18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18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18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18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18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18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18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18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pPr>
            <ns1:r>
              <ns1:rPr sz="1800" b="1">
                <ns1:solidFill>
                  <ns1:srgbClr val="007D80"/>
                </ns1:solidFill>
                <ns1:latin typeface="Arial"/>
                <ns1:ea typeface="Arial"/>
                <ns1:cs typeface="Arial"/>
              </ns1:rPr>
              <ns1:t>Windows per trajectory = floor((8,192 − 512 − 128) / 128) + 1 = 60</ns1:t>
            </ns1:r>
          </ns1:p>
        </ns0:txBody>
      </ns0:sp>
      <ns0:sp>
        <ns0:nvSpPr>
          <ns0:cNvPr id="6" name="Split totals">
            <ns1:extLst>
              <ns1:ext uri="{FF2B5EF4-FFF2-40B4-BE49-F238E27FC236}">
                <ns2:creationId id="{39D872FA-3A25-4890-9959-01DBDB78E90D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5734050"/>
            <ns1:ext cx="110490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8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18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18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18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18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18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18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18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18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18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180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1800" b="0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Train: 32 × 60 = 1,920     Validation: 8 × 60 = 480</ns1:t>
            </ns1:r>
          </ns1:p>
        </ns0:txBody>
      </ns0:sp>
      <ns0:sp>
        <ns0:nvSpPr>
          <ns0:cNvPr id="7" name="Time grid">
            <ns1:extLst>
              <ns1:ext uri="{FF2B5EF4-FFF2-40B4-BE49-F238E27FC236}">
                <ns2:creationId id="{372F04C5-9B75-472E-84CB-CD1720D883A0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6153150"/>
            <ns1:ext cx="10477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57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defPPr>
            <ns1:lvl1pPr>
              <ns1:defRPr sz="157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157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157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157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157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157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157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157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157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157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pPr>
            <ns1:r>
              <ns1:rPr sz="1575" b="0">
                <ns1:solidFill>
                  <ns1:srgbClr val="526477"/>
                </ns1:solidFill>
                <ns1:latin typeface="Arial"/>
                <ns1:ea typeface="Arial"/>
                <ns1:cs typeface="Arial"/>
              </ns1:rPr>
              <ns1:t>Each family uses its own calibrated </ns1:t>
            </ns1:r>
            <ns1:r>
              <ns1:rPr sz="1575" b="1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sampling interval</ns1:t>
            </ns1:r>
            <ns1:r>
              <ns1:rPr sz="1575" b="0">
                <ns1:solidFill>
                  <ns1:srgbClr val="526477"/>
                </ns1:solidFill>
                <ns1:latin typeface="Arial"/>
                <ns1:ea typeface="Arial"/>
                <ns1:cs typeface="Arial"/>
              </ns1:rPr>
              <ns1:t>. Windows inherit trajectory splits.</ns1:t>
            </ns1:r>
          </ns1:p>
        </ns0:txBody>
      </ns0:sp>
    </ns0:spTree>
    <ns0:extLst>
      <ns0:ext uri="{BB962C8B-B14F-4D97-AF65-F5344CB8AC3E}">
        <ns3:creationId val="2029278856"/>
      </ns0:ext>
    </ns0:extLst>
  </ns0:cSld>
</ns0:sld>
</file>

<file path=ppt/slides/slide1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7F8F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Title">
            <ns1:extLst>
              <ns1:ext uri="{FF2B5EF4-FFF2-40B4-BE49-F238E27FC236}">
                <ns2:creationId id="{254621E8-581A-4698-AE77-66904B131CAF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409575"/>
            <ns1:ext cx="110871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Shared fine-tuning protocol</ns1:t>
            </ns1:r>
          </ns1:p>
        </ns0:txBody>
      </ns0:sp>
      <ns0:sp>
        <ns0:nvSpPr>
          <ns0:cNvPr id="2" name="Page number">
            <ns1:extLst>
              <ns1:ext uri="{FF2B5EF4-FFF2-40B4-BE49-F238E27FC236}">
                <ns2:creationId id="{11C30867-EDCA-40B7-8AAC-EB78AEB9098A}"/>
              </ns1:ext>
            </ns1:extLst>
          </ns0:cNvPr>
          <ns0:cNvSpPr>
            <ns1:spLocks noGrp="1"/>
          </ns0:cNvSpPr>
          <ns0:nvPr/>
        </ns0:nvSpPr>
        <ns0:spPr>
          <ns1:xfrm>
            <ns1:off x="11182350" y="6362700"/>
            <ns1:ext cx="457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defPPr>
            <ns1:lvl1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rPr>
              <ns1:t>32</ns1:t>
            </ns1:r>
          </ns1:p>
        </ns0:txBody>
      </ns0:sp>
      <ns0:sp>
        <ns0:nvSpPr>
          <ns0:cNvPr id="3" name="Resources">
            <ns1:extLst>
              <ns1:ext uri="{FF2B5EF4-FFF2-40B4-BE49-F238E27FC236}">
                <ns2:creationId id="{9D3BD182-9870-42D1-BDEA-1BCC6156929C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1504950"/>
            <ns1:ext cx="110490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1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defPPr>
            <ns1:lvl1pPr>
              <ns1:defRPr sz="21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21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21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21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21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21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21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21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21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2100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pPr>
            <ns1:r>
              <ns1:rPr sz="2100" b="1">
                <ns1:solidFill>
                  <ns1:srgbClr val="007D80"/>
                </ns1:solidFill>
                <ns1:latin typeface="Arial"/>
                <ns1:ea typeface="Arial"/>
                <ns1:cs typeface="Arial"/>
              </ns1:rPr>
              <ns1:t>Two matched runs, one node with 4 A100 GPUs per run</ns1:t>
            </ns1:r>
          </ns1:p>
        </ns0:txBody>
      </ns0:sp>
      <ns0:graphicFrame>
        <ns0:nvGraphicFramePr>
          <ns0:cNvPr id="4" name="">
            <ns1:extLst>
              <ns1:ext uri="{FF2B5EF4-FFF2-40B4-BE49-F238E27FC236}">
                <ns2:creationId id="{1AB56555-C975-4344-960A-51775CAD4032}"/>
              </ns1:ext>
            </ns1:extLst>
          </ns0:cNvPr>
          <ns0:cNvGraphicFramePr/>
          <ns0:nvPr/>
        </ns0:nvGraphicFramePr>
        <ns0:xfrm>
          <ns1:off x="571500" y="2143125"/>
          <ns1:ext cx="11049000" cy="3429000"/>
        </ns0:xfrm>
        <ns1:graphic>
          <ns1:graphicData uri="http://schemas.openxmlformats.org/drawingml/2006/table">
            <ns1:tbl>
              <ns1:tblPr/>
              <ns1:tblGrid>
                <ns1:gridCol w="3238500"/>
                <ns1:gridCol w="7810500"/>
              </ns1:tblGrid>
              <ns1:tr h="428625">
                <ns1:tc>
                  <ns1:txBody>
                    <ns1:bodyPr/>
                    <ns1:lstStyle/>
                    <ns1:p>
                      <ns1:r>
                        <ns1:rPr sz="18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Setting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T w="9525">
                      <ns1:solidFill>
                        <ns1:srgbClr val="D4DEE5"/>
                      </ns1:solidFill>
                      <ns1:prstDash val="solid"/>
                    </ns1:lnT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152B4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Both runs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T w="9525">
                      <ns1:solidFill>
                        <ns1:srgbClr val="D4DEE5"/>
                      </ns1:solidFill>
                      <ns1:prstDash val="solid"/>
                    </ns1:lnT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152B43"/>
                    </ns1:solidFill>
                  </ns1:tcPr>
                </ns1:tc>
              </ns1:tr>
              <ns1:tr h="428625"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Initialization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Panda forecast checkpoint, seed 99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428625"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Optimization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AdamW on trainable weights, observed-channel MSE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</ns1:tr>
              <ns1:tr h="428625"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Learning rate / decay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3e-5 / 0.01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428625"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Schedule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Cosine, 5% warmup, gradient clipping 1.0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</ns1:tr>
              <ns1:tr h="428625"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Training budget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Up to 50 epochs, early-stopping patience 10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428625"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Batch / precision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Global batch 32 (8 per GPU), BF16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</ns1:tr>
              <ns1:tr h="428625"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Checkpoint selection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800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Lowest validation loss, evaluated every epoch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5" name="Status">
            <ns1:extLst>
              <ns1:ext uri="{FF2B5EF4-FFF2-40B4-BE49-F238E27FC236}">
                <ns2:creationId id="{471D7FC1-49D0-43CD-BE99-455C5E8DF5BB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5905500"/>
            <ns1:ext cx="1104900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defPPr>
            <ns1:lvl1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rPr>
              <ns1:t>Fine-tuning results pending</ns1:t>
            </ns1:r>
          </ns1:p>
        </ns0:txBody>
      </ns0:sp>
      <ns0:sp>
        <ns0:nvSpPr>
          <ns0:cNvPr id="7" name="Visible source citations"/>
          <ns0:cNvSpPr/>
          <ns0:nvPr/>
        </ns0:nvSpPr>
        <ns0:spPr>
          <ns1:xfrm>
            <ns1:off x="571500" y="6562725"/>
            <ns1:ext cx="10477500" cy="219075"/>
          </ns1:xfrm>
          <ns1:noFill/>
        </ns0:spPr>
        <ns0:txBody>
          <ns1:bodyPr lIns="0" rIns="0" tIns="0" bIns="0" wrap="none"/>
          <ns1:lstStyle/>
          <ns1:p>
            <ns1:pPr marL="0" indent="0"/>
            <ns1:r>
              <ns1:rPr sz="1000" u="sng">
                <ns1:solidFill>
                  <ns1:srgbClr val="526477"/>
                </ns1:solidFill>
                <ns1:latin typeface="Arial"/>
                <ns1:hlinkClick xmlns:ns4="http://schemas.openxmlformats.org/officeDocument/2006/relationships" ns4:id="rIdVisibleSource1"/>
              </ns1:rPr>
              <ns1:t>Initialization: GilpinLab/panda on Hugging Face</ns1:t>
            </ns1:r>
            <ns1:r>
              <ns1:rPr sz="1000"/>
              <ns1:t>      </ns1:t>
            </ns1:r>
            <ns1:r>
              <ns1:rPr sz="1000" u="sng">
                <ns1:solidFill>
                  <ns1:srgbClr val="526477"/>
                </ns1:solidFill>
                <ns1:latin typeface="Arial"/>
                <ns1:hlinkClick xmlns:ns5="http://schemas.openxmlformats.org/officeDocument/2006/relationships" ns5:id="rIdVisibleSource2"/>
              </ns1:rPr>
              <ns1:t>Panda code: github.com/abao1999/panda</ns1:t>
            </ns1:r>
          </ns1:p>
        </ns0:txBody>
      </ns0:sp>
    </ns0:spTree>
    <ns0:extLst>
      <ns0:ext uri="{BB962C8B-B14F-4D97-AF65-F5344CB8AC3E}">
        <ns3:creationId val="1727969459"/>
      </ns0:ext>
    </ns0:extLst>
  </ns0:cSld>
</ns0:sld>
</file>

<file path=ppt/slides/slide1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7F8F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8" name="Title">
            <ns1:extLst>
              <ns1:ext uri="{FF2B5EF4-FFF2-40B4-BE49-F238E27FC236}">
                <ns2:creationId id="{E01ADDAA-4434-43B9-AF06-3C78C75524FC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409575"/>
            <ns1:ext cx="110871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Panda patch embeddings</ns1:t>
            </ns1:r>
          </ns1:p>
        </ns0:txBody>
      </ns0:sp>
      <ns0:sp>
        <ns0:nvSpPr>
          <ns0:cNvPr id="2" name="Patching">
            <ns1:extLst>
              <ns1:ext uri="{FF2B5EF4-FFF2-40B4-BE49-F238E27FC236}">
                <ns2:creationId id="{B6C5EAD2-80EF-446C-A1C6-2369195A1464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1428750"/>
            <ns1:ext cx="110490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Each channel’s 512 context samples form 32 patches (length 16, stride 16).</ns1:t>
            </ns1:r>
          </ns1:p>
          <ns1:p>
            <ns1: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Each patch x = (x₁, …, x₁₆) supplies the feature blocks below.</ns1:t>
            </ns1:r>
          </ns1:p>
        </ns0:txBody>
      </ns0:sp>
      <ns0:graphicFrame>
        <ns0:nvGraphicFramePr>
          <ns0:cNvPr id="3" name="">
            <ns1:extLst>
              <ns1:ext uri="{FF2B5EF4-FFF2-40B4-BE49-F238E27FC236}">
                <ns2:creationId id="{678B3425-54D1-4BC6-980B-4E62A197D840}"/>
              </ns1:ext>
            </ns1:extLst>
          </ns0:cNvPr>
          <ns0:cNvGraphicFramePr/>
          <ns0:nvPr/>
        </ns0:nvGraphicFramePr>
        <ns0:xfrm>
          <ns1:off x="571500" y="2333625"/>
          <ns1:ext cx="11049000" cy="2514600"/>
        </ns0:xfrm>
        <ns1:graphic>
          <ns1:graphicData uri="http://schemas.openxmlformats.org/drawingml/2006/table">
            <ns1:tbl>
              <ns1:tblPr/>
              <ns1:tblGrid>
                <ns1:gridCol w="2286000"/>
                <ns1:gridCol w="7048500"/>
                <ns1:gridCol w="1714500"/>
              </ns1:tblGrid>
              <ns1:tr h="419100">
                <ns1:tc>
                  <ns1:txBody>
                    <ns1:bodyPr/>
                    <ns1:lstStyle/>
                    <ns1:p>
                      <ns1:r>
                        <ns1:rPr sz="1725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Feature block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T w="9525">
                      <ns1:solidFill>
                        <ns1:srgbClr val="D4DEE5"/>
                      </ns1:solidFill>
                      <ns1:prstDash val="solid"/>
                    </ns1:lnT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152B4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725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Construction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T w="9525">
                      <ns1:solidFill>
                        <ns1:srgbClr val="D4DEE5"/>
                      </ns1:solidFill>
                      <ns1:prstDash val="solid"/>
                    </ns1:lnT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152B43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725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Dimensions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T w="9525">
                      <ns1:solidFill>
                        <ns1:srgbClr val="D4DEE5"/>
                      </ns1:solidFill>
                      <ns1:prstDash val="solid"/>
                    </ns1:lnT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152B43"/>
                    </ns1:solidFill>
                  </ns1:tcPr>
                </ns1:tc>
              </ns1:tr>
              <ns1:tr h="523875">
                <ns1:tc>
                  <ns1:txBody>
                    <ns1:bodyPr/>
                    <ns1:lstStyle/>
                    <ns1:p>
                      <ns1:r>
                        <ns1:rPr sz="1725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Raw patch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725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The 16 observed values x₁, …, x₁₆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725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16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523875">
                <ns1:tc>
                  <ns1:txBody>
                    <ns1:bodyPr/>
                    <ns1:lstStyle/>
                    <ns1:p>
                      <ns1:r>
                        <ns1:rPr sz="1725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Quadratic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725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Products xᵢxⱼ using randomly sampled index pairs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725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120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</ns1:tr>
              <ns1:tr h="523875">
                <ns1:tc>
                  <ns1:txBody>
                    <ns1:bodyPr/>
                    <ns1:lstStyle/>
                    <ns1:p>
                      <ns1:r>
                        <ns1:rPr sz="1725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Cubic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725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Products xᵢxⱼxₖ using randomly sampled index triples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725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120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523875">
                <ns1:tc>
                  <ns1:txBody>
                    <ns1:bodyPr/>
                    <ns1:lstStyle/>
                    <ns1:p>
                      <ns1:r>
                        <ns1:rPr sz="1725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Fourier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4DEE5"/>
                      </ns1:solidFill>
                      <ns1:prstDash val="solid"/>
                    </ns1:lnL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725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sin(xW + b) and cos(xW + b), with fixed random W and b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1725" b="0">
                          <ns1:solidFill>
                            <ns1:srgbClr val="152B43"/>
                          </ns1:solidFill>
                          <ns1:latin typeface="Arial"/>
                          <ns1:ea typeface="Arial"/>
                          <ns1:cs typeface="Arial"/>
                        </ns1:rPr>
                        <ns1:t>256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4DEE5"/>
                      </ns1:solidFill>
                      <ns1:prstDash val="solid"/>
                    </ns1:lnR>
                    <ns1:lnB w="9525">
                      <ns1:solidFill>
                        <ns1:srgbClr val="D4DEE5"/>
                      </ns1:solidFill>
                      <ns1:prstDash val="solid"/>
                    </ns1:lnB>
                    <ns1:solidFill>
                      <ns1:srgbClr val="EDF2F4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4" name="Feature total">
            <ns1:extLst>
              <ns1:ext uri="{FF2B5EF4-FFF2-40B4-BE49-F238E27FC236}">
                <ns2:creationId id="{D233CE9D-759E-400D-B577-27EBBE5184A7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5067300"/>
            <ns1:ext cx="1104900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defPPr>
            <ns1:lvl1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007D80"/>
                </ns1:solidFill>
                <ns1:latin typeface="Arial"/>
                <ns1:ea typeface="Arial"/>
                <ns1:cs typeface="Arial"/>
              </ns1:rPr>
              <ns1:t>Concatenation: 16 + 120 + 120 + 256 = 512 features per patch</ns1:t>
            </ns1:r>
          </ns1:p>
        </ns0:txBody>
      </ns0:sp>
      <ns0:sp>
        <ns0:nvSpPr>
          <ns0:cNvPr id="5" name="Projection">
            <ns1:extLst>
              <ns1:ext uri="{FF2B5EF4-FFF2-40B4-BE49-F238E27FC236}">
                <ns2:creationId id="{5BEDDB81-C78E-4336-95C6-41EA8B9BDCB4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5591175"/>
            <ns1:ext cx="11049000" cy="4476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A learned 512 × 512 linear projection produces the transformer token.</ns1:t>
            </ns1:r>
          </ns1:p>
        </ns0:txBody>
      </ns0:sp>
      <ns0:sp>
        <ns0:nvSpPr>
          <ns0:cNvPr id="6" name="Mapping">
            <ns1:extLst>
              <ns1:ext uri="{FF2B5EF4-FFF2-40B4-BE49-F238E27FC236}">
                <ns2:creationId id="{05A110C8-2182-4043-A96A-3DCA6D14EFB5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6134100"/>
            <ns1:ext cx="104775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65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defPPr>
            <ns1:lvl1pPr>
              <ns1:defRPr sz="165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165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165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165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165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165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165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165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165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165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pPr>
            <ns1:r>
              <ns1:rPr sz="1650" b="0">
                <ns1:solidFill>
                  <ns1:srgbClr val="526477"/>
                </ns1:solidFill>
                <ns1:latin typeface="Arial"/>
                <ns1:ea typeface="Arial"/>
                <ns1:cs typeface="Arial"/>
              </ns1:rPr>
              <ns1:t>Polynomial indices and Fourier parameters are sampled at initialization.</ns1:t>
            </ns1:r>
          </ns1:p>
        </ns0:txBody>
      </ns0:sp>
      <ns0:sp>
        <ns0:nvSpPr>
          <ns0:cNvPr id="7" name="Page number">
            <ns1:extLst>
              <ns1:ext uri="{FF2B5EF4-FFF2-40B4-BE49-F238E27FC236}">
                <ns2:creationId id="{C4FCF043-F603-4600-9DEC-F140210A2376}"/>
              </ns1:ext>
            </ns1:extLst>
          </ns0:cNvPr>
          <ns0:cNvSpPr>
            <ns1:spLocks noGrp="1"/>
          </ns0:cNvSpPr>
          <ns0:nvPr/>
        </ns0:nvSpPr>
        <ns0:spPr>
          <ns1:xfrm>
            <ns1:off x="11182350" y="6362700"/>
            <ns1:ext cx="457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defPPr>
            <ns1:lvl1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rPr>
              <ns1:t>25</ns1:t>
            </ns1:r>
          </ns1:p>
        </ns0:txBody>
      </ns0:sp>
      <ns0:sp>
        <ns0:nvSpPr>
          <ns0:cNvPr id="9" name="Visible source citations"/>
          <ns0:cNvSpPr/>
          <ns0:nvPr/>
        </ns0:nvSpPr>
        <ns0:spPr>
          <ns1:xfrm>
            <ns1:off x="571500" y="6562725"/>
            <ns1:ext cx="10477500" cy="219075"/>
          </ns1:xfrm>
          <ns1:noFill/>
        </ns0:spPr>
        <ns0:txBody>
          <ns1:bodyPr lIns="0" rIns="0" tIns="0" bIns="0" wrap="none"/>
          <ns1:lstStyle/>
          <ns1:p>
            <ns1:pPr marL="0" indent="0"/>
            <ns1:r>
              <ns1:rPr sz="1000" u="sng">
                <ns1:solidFill>
                  <ns1:srgbClr val="526477"/>
                </ns1:solidFill>
                <ns1:latin typeface="Arial"/>
                <ns1:hlinkClick xmlns:ns4="http://schemas.openxmlformats.org/officeDocument/2006/relationships" ns4:id="rIdVisibleSource1"/>
              </ns1:rPr>
              <ns1:t>Lai, Bao &amp; Gilpin (ICLR 2026), §4</ns1:t>
            </ns1:r>
            <ns1:r>
              <ns1:rPr sz="1000"/>
              <ns1:t>      </ns1:t>
            </ns1:r>
            <ns1:r>
              <ns1:rPr sz="1000" u="sng">
                <ns1:solidFill>
                  <ns1:srgbClr val="526477"/>
                </ns1:solidFill>
                <ns1:latin typeface="Arial"/>
                <ns1:hlinkClick xmlns:ns5="http://schemas.openxmlformats.org/officeDocument/2006/relationships" ns5:id="rIdVisibleSource2"/>
              </ns1:rPr>
              <ns1:t>GitHub: feature embedding</ns1:t>
            </ns1:r>
            <ns1:r>
              <ns1:rPr sz="1000"/>
              <ns1:t>      </ns1:t>
            </ns1:r>
            <ns1:r>
              <ns1:rPr sz="1000" u="sng">
                <ns1:solidFill>
                  <ns1:srgbClr val="526477"/>
                </ns1:solidFill>
                <ns1:latin typeface="Arial"/>
                <ns1:hlinkClick xmlns:ns6="http://schemas.openxmlformats.org/officeDocument/2006/relationships" ns6:id="rIdVisibleSource3"/>
              </ns1:rPr>
              <ns1:t>HF: exact configuration</ns1:t>
            </ns1:r>
          </ns1:p>
        </ns0:txBody>
      </ns0:sp>
    </ns0:spTree>
    <ns0:extLst>
      <ns0:ext uri="{BB962C8B-B14F-4D97-AF65-F5344CB8AC3E}">
        <ns3:creationId val="1956864467"/>
      </ns0:ext>
    </ns0:extLst>
  </ns0:cSld>
</ns0:sld>
</file>

<file path=ppt/slides/slide1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7F8F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0" name="Title">
            <ns1:extLst>
              <ns1:ext uri="{FF2B5EF4-FFF2-40B4-BE49-F238E27FC236}">
                <ns2:creationId id="{1AADAB28-0DE4-4683-BE6E-2CCC90CE0297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409575"/>
            <ns1:ext cx="110871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3150" b="1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Checkpoint reproducibility issue</ns1:t>
            </ns1:r>
          </ns1:p>
        </ns0:txBody>
      </ns0:sp>
      <ns0:sp>
        <ns0:nvSpPr>
          <ns0:cNvPr id="2" name="Summary">
            <ns1:extLst>
              <ns1:ext uri="{FF2B5EF4-FFF2-40B4-BE49-F238E27FC236}">
                <ns2:creationId id="{98FCAF00-447D-47A2-A06B-F9D8A29A913D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1457325"/>
            <ns1:ext cx="1104900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17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defPPr>
            <ns1:lvl1pPr>
              <ns1:defRPr sz="217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217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217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217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217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217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217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217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217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2175" b="1">
                <ns1:solidFill>
                  <ns1:srgbClr val="007D80"/>
                </ns1:solidFill>
                <ns1:latin typeface="Arial"/>
                <ns1:ea typeface="Arial"/>
                <ns1:cs typeface="Arial"/>
              </ns1:defRPr>
            </ns1:pPr>
            <ns1:r>
              <ns1:rPr sz="2175" b="1">
                <ns1:solidFill>
                  <ns1:srgbClr val="007D80"/>
                </ns1:solidFill>
                <ns1:latin typeface="Arial"/>
                <ns1:ea typeface="Arial"/>
                <ns1:cs typeface="Arial"/>
              </ns1:rPr>
              <ns1:t>Upstream checkpoints omit the polynomial feature mapping</ns1:t>
            </ns1:r>
          </ns1:p>
        </ns0:txBody>
      </ns0:sp>
      <ns0:sp>
        <ns0:nvSpPr>
          <ns0:cNvPr id="3" name="Cause">
            <ns1:extLst>
              <ns1:ext uri="{FF2B5EF4-FFF2-40B4-BE49-F238E27FC236}">
                <ns2:creationId id="{0FA7F597-018F-4762-A437-A9DA5A96C5DE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2171700"/>
            <ns1:ext cx="11049000" cy="4095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Cause: polynomial indices are not saved. Fourier W and b are saved.</ns1:t>
            </ns1:r>
          </ns1:p>
        </ns0:txBody>
      </ns0:sp>
      <ns0:sp>
        <ns0:nvSpPr>
          <ns0:cNvPr id="4" name="Effect">
            <ns1:extLst>
              <ns1:ext uri="{FF2B5EF4-FFF2-40B4-BE49-F238E27FC236}">
                <ns2:creationId id="{A44AB09F-61EB-443B-85A5-C6E0DEB00947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2705100"/>
            <ns1:ext cx="11049000" cy="4095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Effect: new polynomial features can be paired with old projection weights.</ns1:t>
            </ns1:r>
          </ns1:p>
        </ns0:txBody>
      </ns0:sp>
      <ns0:sp>
        <ns0:nvSpPr>
          <ns0:cNvPr id="5" name="Workaround">
            <ns1:extLst>
              <ns1:ext uri="{FF2B5EF4-FFF2-40B4-BE49-F238E27FC236}">
                <ns2:creationId id="{80ECA796-4691-4B9C-A88B-B2FA645A5EE9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3238500"/>
            <ns1:ext cx="11049000" cy="4095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defPPr>
            <ns1:lvl1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defRPr>
            </ns1:pPr>
            <ns1:r>
              <ns1:rPr sz="1950" b="0">
                <ns1:solidFill>
                  <ns1:srgbClr val="152B43"/>
                </ns1:solidFill>
                <ns1:latin typeface="Arial"/>
                <ns1:ea typeface="Arial"/>
                <ns1:cs typeface="Arial"/>
              </ns1:rPr>
              <ns1:t>Our workaround: save and restore polynomial_indices.json with checkpoints.</ns1:t>
            </ns1:r>
          </ns1:p>
        </ns0:txBody>
      </ns0:sp>
      <ns0:sp>
        <ns0:nvSpPr>
          <ns0:cNvPr id="6" name="Evidence label">
            <ns1:extLst>
              <ns1:ext uri="{FF2B5EF4-FFF2-40B4-BE49-F238E27FC236}">
                <ns2:creationId id="{9D49333D-6DC9-43ED-B4C9-088F8AF15651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3943350"/>
            <ns1:ext cx="110490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72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defPPr>
            <ns1:lvl1pPr>
              <ns1:defRPr sz="172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172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172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172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172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172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172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172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172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1725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pPr>
            <ns1:r>
              <ns1:rPr sz="1725" b="0">
                <ns1:solidFill>
                  <ns1:srgbClr val="526477"/>
                </ns1:solidFill>
                <ns1:latin typeface="Arial"/>
                <ns1:ea typeface="Arial"/>
                <ns1:cs typeface="Arial"/>
              </ns1:rPr>
              <ns1:t>Reported in Panda GitHub issue #12</ns1:t>
            </ns1:r>
          </ns1:p>
        </ns0:txBody>
      </ns0:sp>
      <ns0:pic>
        <ns0:nvPicPr>
          <ns0:cNvPr id="7" name="">
            <ns1:extLst>
              <ns1:ext uri="{FF2B5EF4-FFF2-40B4-BE49-F238E27FC236}">
                <ns2:creationId id="{54E75499-BEB3-478D-B009-4911F57ADD9B}"/>
              </ns1:ext>
            </ns1:extLst>
          </ns0:cNvPr>
          <ns0:cNvPicPr>
            <ns1:picLocks noChangeAspect="1"/>
          </ns0:cNvPicPr>
          <ns0:nvPr/>
        </ns0:nvPicPr>
        <ns0:blipFill>
          <ns1:blip ns3:embed="R6152954e6f7a44d3"/>
          <ns1:srcRect l="2900" t="45500" r="2900" b="31000"/>
          <ns1:stretch/>
        </ns0:blipFill>
        <ns0:spPr>
          <ns1:xfrm>
            <ns1:off x="571500" y="4333875"/>
            <ns1:ext cx="11049000" cy="1304925"/>
          </ns1:xfrm>
          <ns1:prstGeom prst="rect">
            <ns1:avLst/>
          </ns1:prstGeom>
        </ns0:spPr>
      </ns0:pic>
      <ns0:sp>
        <ns0:nvSpPr>
          <ns0:cNvPr id="9" name="Page number">
            <ns1:extLst>
              <ns1:ext uri="{FF2B5EF4-FFF2-40B4-BE49-F238E27FC236}">
                <ns2:creationId id="{0764EF81-1904-4152-BF51-ACFBBCD65647}"/>
              </ns1:ext>
            </ns1:extLst>
          </ns0:cNvPr>
          <ns0:cNvSpPr>
            <ns1:spLocks noGrp="1"/>
          </ns0:cNvSpPr>
          <ns0:nvPr/>
        </ns0:nvSpPr>
        <ns0:spPr>
          <ns1:xfrm>
            <ns1:off x="11182350" y="6362700"/>
            <ns1:ext cx="457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defPPr>
            <ns1:lvl1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1pPr>
            <ns1:lvl2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2pPr>
            <ns1:lvl3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3pPr>
            <ns1:lvl4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4pPr>
            <ns1:lvl5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5pPr>
            <ns1:lvl6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6pPr>
            <ns1:lvl7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7pPr>
            <ns1:lvl8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8pPr>
            <ns1:lvl9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lvl9pPr>
          </ns1:lstStyle>
          <ns1:p>
            <ns1:pPr>
              <ns1:def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77"/>
                </ns1:solidFill>
                <ns1:latin typeface="Arial"/>
                <ns1:ea typeface="Arial"/>
                <ns1:cs typeface="Arial"/>
              </ns1:rPr>
              <ns1:t>27</ns1:t>
            </ns1:r>
          </ns1:p>
        </ns0:txBody>
      </ns0:sp>
      <ns0:sp>
        <ns0:nvSpPr>
          <ns0:cNvPr id="11" name="Visible source citations"/>
          <ns0:cNvSpPr/>
          <ns0:nvPr/>
        </ns0:nvSpPr>
        <ns0:spPr>
          <ns1:xfrm>
            <ns1:off x="571500" y="6562725"/>
            <ns1:ext cx="10477500" cy="219075"/>
          </ns1:xfrm>
          <ns1:noFill/>
        </ns0:spPr>
        <ns0:txBody>
          <ns1:bodyPr lIns="0" rIns="0" tIns="0" bIns="0" wrap="none"/>
          <ns1:lstStyle/>
          <ns1:p>
            <ns1:pPr marL="0" indent="0"/>
            <ns1:r>
              <ns1:rPr sz="1000" u="sng">
                <ns1:solidFill>
                  <ns1:srgbClr val="526477"/>
                </ns1:solidFill>
                <ns1:latin typeface="Arial"/>
                <ns1:hlinkClick ns3:id="rIdVisibleSource1"/>
              </ns1:rPr>
              <ns1:t>GitHub: polynomial-index implementation</ns1:t>
            </ns1:r>
            <ns1:r>
              <ns1:rPr sz="1000"/>
              <ns1:t>      </ns1:t>
            </ns1:r>
            <ns1:r>
              <ns1:rPr sz="1000" u="sng">
                <ns1:solidFill>
                  <ns1:srgbClr val="526477"/>
                </ns1:solidFill>
                <ns1:latin typeface="Arial"/>
                <ns1:hlinkClick ns3:id="rIdVisibleSource2"/>
              </ns1:rPr>
              <ns1:t>Panda GitHub issue #12</ns1:t>
            </ns1:r>
            <ns1:r>
              <ns1:rPr sz="1000"/>
              <ns1:t>      </ns1:t>
            </ns1:r>
            <ns1:r>
              <ns1:rPr sz="1000" u="sng">
                <ns1:solidFill>
                  <ns1:srgbClr val="526477"/>
                </ns1:solidFill>
                <ns1:latin typeface="Arial"/>
                <ns1:hlinkClick ns3:id="rIdVisibleSource3"/>
              </ns1:rPr>
              <ns1:t>HF: training metadata (seed 99)</ns1:t>
            </ns1:r>
          </ns1:p>
        </ns0:txBody>
      </ns0:sp>
      <ns0:sp>
        <ns0:nvSpPr>
          <ns0:cNvPr id="100" name="Seed choice and limitations">
            <ns1:extLst>
              <ns1:ext uri="{FF2B5EF4-FFF2-40B4-BE49-F238E27FC236}">
                <ns2:creationId id="{7FF76DA0-AE0A-45F7-948E-77174608E07E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5724525"/>
            <ns1:ext cx="10572750" cy="7429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/>
          <ns1:lstStyle>
            <ns1:defPPr>
              <ns1:defRPr sz="1725">
                <ns1:solidFill>
                  <ns1:srgbClr val="526477"/>
                </ns1:solidFill>
              </ns1:defRPr>
            </ns1:defPPr>
            <ns1:lvl1pPr>
              <ns1:defRPr sz="1725">
                <ns1:solidFill>
                  <ns1:srgbClr val="526477"/>
                </ns1:solidFill>
              </ns1:defRPr>
            </ns1:lvl1pPr>
            <ns1:lvl2pPr>
              <ns1:defRPr sz="1725">
                <ns1:solidFill>
                  <ns1:srgbClr val="526477"/>
                </ns1:solidFill>
              </ns1:defRPr>
            </ns1:lvl2pPr>
            <ns1:lvl3pPr>
              <ns1:defRPr sz="1725">
                <ns1:solidFill>
                  <ns1:srgbClr val="526477"/>
                </ns1:solidFill>
              </ns1:defRPr>
            </ns1:lvl3pPr>
            <ns1:lvl4pPr>
              <ns1:defRPr sz="1725">
                <ns1:solidFill>
                  <ns1:srgbClr val="526477"/>
                </ns1:solidFill>
              </ns1:defRPr>
            </ns1:lvl4pPr>
            <ns1:lvl5pPr>
              <ns1:defRPr sz="1725">
                <ns1:solidFill>
                  <ns1:srgbClr val="526477"/>
                </ns1:solidFill>
              </ns1:defRPr>
            </ns1:lvl5pPr>
            <ns1:lvl6pPr>
              <ns1:defRPr sz="1725">
                <ns1:solidFill>
                  <ns1:srgbClr val="526477"/>
                </ns1:solidFill>
              </ns1:defRPr>
            </ns1:lvl6pPr>
            <ns1:lvl7pPr>
              <ns1:defRPr sz="1725">
                <ns1:solidFill>
                  <ns1:srgbClr val="526477"/>
                </ns1:solidFill>
              </ns1:defRPr>
            </ns1:lvl7pPr>
            <ns1:lvl8pPr>
              <ns1:defRPr sz="1725">
                <ns1:solidFill>
                  <ns1:srgbClr val="526477"/>
                </ns1:solidFill>
              </ns1:defRPr>
            </ns1:lvl8pPr>
            <ns1:lvl9pPr>
              <ns1:defRPr sz="1725">
                <ns1:solidFill>
                  <ns1:srgbClr val="526477"/>
                </ns1:solidFill>
              </ns1:defRPr>
            </ns1:lvl9pPr>
          </ns1:lstStyle>
          <ns1:p>
            <ns1:pPr>
              <ns1:defRPr sz="1725">
                <ns1:solidFill>
                  <ns1:srgbClr val="526477"/>
                </ns1:solidFill>
              </ns1:defRPr>
            </ns1:pPr>
            <ns1:r>
              <ns1:rPr sz="1725">
                <ns1:solidFill>
                  <ns1:srgbClr val="526477"/>
                </ns1:solidFill>
              </ns1:rPr>
              <ns1:t>Our runs use seed 99 to match Panda’s recorded training seed.</ns1:t>
            </ns1:r>
          </ns1:p>
          <ns1:p>
            <ns1:pPr>
              <ns1:defRPr sz="1725">
                <ns1:solidFill>
                  <ns1:srgbClr val="526477"/>
                </ns1:solidFill>
              </ns1:defRPr>
            </ns1:pPr>
            <ns1:r>
              <ns1:rPr sz="1725">
                <ns1:solidFill>
                  <ns1:srgbClr val="526477"/>
                </ns1:solidFill>
              </ns1:rPr>
              <ns1:t>Matching the seed alone cannot guarantee the original mapping without the same RNG history.</ns1:t>
            </ns1:r>
          </ns1:p>
          <ns1:p>
            <ns1:pPr>
              <ns1:defRPr sz="1725">
                <ns1:solidFill>
                  <ns1:srgbClr val="526477"/>
                </ns1:solidFill>
              </ns1:defRPr>
            </ns1:pPr>
            <ns1:r>
              <ns1:rPr sz="1725">
                <ns1:solidFill>
                  <ns1:srgbClr val="526477"/>
                </ns1:solidFill>
              </ns1:rPr>
              <ns1:t>This may affect zero-shot evaluation, but does not establish why it failed.</ns1:t>
            </ns1:r>
          </ns1:p>
        </ns0:txBody>
      </ns0:sp>
    </ns0:spTree>
    <ns0:extLst>
      <ns0:ext uri="{BB962C8B-B14F-4D97-AF65-F5344CB8AC3E}">
        <ns4:creationId val="1988534538"/>
      </ns0:ext>
    </ns0:extLst>
  </ns0:cSld>
</ns0:sld>
</file>

<file path=ppt/theme/panda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</Words>
  <Application>Microsoft Macintosh PowerPoint</Application>
  <DocSecurity>0</DocSecurity>
  <PresentationFormat>Widescreen</PresentationFormat>
  <Paragraphs>111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Cambria Math</vt:lpstr>
      <vt:lpstr>ChatGPT</vt:lpstr>
      <vt:lpstr>Benchmark additions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Panda fine-tuning on Lorenz–96</vt:lpstr>
      <vt:lpstr>Forecasting from slow observations</vt:lpstr>
      <vt:lpstr>Why fine-tune Panda?</vt:lpstr>
      <vt:lpstr>Paired fine-tuning experiments</vt:lpstr>
      <vt:lpstr>Shared fine-tuning protocol</vt:lpstr>
      <vt:lpstr>Panda patch embeddings</vt:lpstr>
      <vt:lpstr>Checkpoint reproducibility issue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Multiscale Dynamical Systems Forecasting</dc:title>
  <dc:creator>Yuhan Zheng</dc:creator>
  <cp:lastModifiedBy>Zheng, Yuhan</cp:lastModifiedBy>
  <cp:revision>1</cp:revision>
  <dcterms:created xsi:type="dcterms:W3CDTF">2026-10-20T17:38:51Z</dcterms:created>
  <dcterms:modified xsi:type="dcterms:W3CDTF">2026-10-27T17:29:07Z</dcterms:modified>
</cp:coreProperties>
</file>